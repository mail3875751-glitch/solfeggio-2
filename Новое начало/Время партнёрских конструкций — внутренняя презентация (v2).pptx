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howGuides="1"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864"/>
        <p:guide orient="horz" pos="2707"/>
        <p:guide orient="horz" pos="2794"/>
        <p:guide orient="horz" pos="2938"/>
        <p:guide pos="403"/>
        <p:guide pos="535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808080"/>
                </a:solidFill>
                <a:latin typeface="Aptos SemiBold"/>
              </a:rPr>
              <a:t>ВНУТРЕННИЙ МАТЕРИАЛ · СТРАТЕГИЯ · АВГУСТ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73152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Aptos Display"/>
              </a:rPr>
              <a:t>Время партнёрских конструкций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262626"/>
                </a:solidFill>
                <a:latin typeface="Aptos"/>
              </a:rPr>
              <a:t>Раньше мы не могли сформулировать, зачем рынку нужны мы. Теперь рынок сформулировал это за нас — осталось выйти и сказать.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0976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61872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72768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83664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370832"/>
            <a:ext cx="786384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Версия 1.0 · август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КОНТЕКСТ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В эпоху лёгких денег партнёр был не нужен никому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108960" cy="23774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81051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808080"/>
                </a:solidFill>
                <a:latin typeface="Aptos SemiBold"/>
              </a:rPr>
              <a:t>2020–2023: деньги за честное слово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04288"/>
            <a:ext cx="2743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08080"/>
                </a:solidFill>
                <a:latin typeface="Aptos"/>
              </a:rPr>
              <a:t>Девелопер приходил в банк и получал финансирование напрямую — под проект, под имя, под рост рынка. Бридж под землю был доступен, льготная ипотека обеспечивала сбыт, маржа прощала ошибки структурирования.</a:t>
            </a:r>
          </a:p>
        </p:txBody>
      </p:sp>
      <p:sp>
        <p:nvSpPr>
          <p:cNvPr id="8" name="Chevron 7"/>
          <p:cNvSpPr/>
          <p:nvPr/>
        </p:nvSpPr>
        <p:spPr>
          <a:xfrm>
            <a:off x="3977639" y="2651760"/>
            <a:ext cx="457200" cy="365760"/>
          </a:xfrm>
          <a:prstGeom prst="chevron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463040"/>
            <a:ext cx="3840480" cy="2743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63440" y="1463040"/>
            <a:ext cx="3840480" cy="502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6459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A1A1A"/>
                </a:solidFill>
                <a:latin typeface="Aptos SemiBold"/>
              </a:rPr>
              <a:t>2026: деньги дорогие и недоверчивые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121408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62626"/>
                </a:solidFill>
                <a:latin typeface="Aptos"/>
              </a:rPr>
              <a:t>Функция «партнёр-капитал, повышающий надёжность проекта» не имела спроса: девелоперу партнёры были не нужны, и сформулировать нашу роль в одном предложении было невозможно. Это не наша ошибка — это фаза рынка.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29184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Aptos"/>
              </a:rPr>
              <a:t>Роль, под которую создавалась структура, ждала своей фазы. Фаза наступила.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КОНТЕКСТ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Рынок пересобран: деньги стали дорогими и недоверчивыми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Ключевая ставка ЦБ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508760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21% → 14%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746504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53351" y="1691639"/>
            <a:ext cx="82296" cy="25603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21984" y="1691639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5087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пик пройден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Покрытие долга ПФ эскроу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11680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88% → ~70%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49424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43546" y="2194560"/>
            <a:ext cx="82296" cy="25603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87668" y="2194560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201168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банки жёстче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Объекты с переносом сроков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514600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сейчас: 58%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2752344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17082" y="2697479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25146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волна реструктуризаций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0175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Требование банков к equity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017520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сейчас: 15%+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3255263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12180" y="3200399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301752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нужен партнёр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730752"/>
            <a:ext cx="78638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3730752"/>
            <a:ext cx="54864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730752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F3A5F"/>
                </a:solidFill>
                <a:latin typeface="Aptos"/>
              </a:rPr>
              <a:t>СДВИГ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Девелоперы осваивают навыки банкиров: финансовая инженерия стала ядром бизнеса. Спрос на переводчика между контурами — максимальный.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34840"/>
            <a:ext cx="749807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Источники: ЦБ РФ, ДОМ.РФ, ЕРЗ.РФ, Коммерсантъ, 2025–2026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ПРОБЛЕМА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Куплено в 2–3 раза больше, чем рынок может съесть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474720"/>
            <a:ext cx="402336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34639"/>
            <a:ext cx="1188720" cy="640080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34639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 Display"/>
              </a:rPr>
              <a:t>1×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194560"/>
            <a:ext cx="1188720" cy="12801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51760" y="1554480"/>
            <a:ext cx="1188720" cy="64008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33172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2–3×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502151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262626"/>
                </a:solidFill>
                <a:latin typeface="Aptos"/>
              </a:rPr>
              <a:t>Реальный спрос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79" y="3502151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262626"/>
                </a:solidFill>
                <a:latin typeface="Aptos"/>
              </a:rPr>
              <a:t>Купленные площадки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371600"/>
            <a:ext cx="3291840" cy="1143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371600"/>
            <a:ext cx="3291840" cy="54864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1481328"/>
            <a:ext cx="29626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77B30"/>
                </a:solidFill>
                <a:latin typeface="Aptos Display"/>
              </a:rPr>
              <a:t>52%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199339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08080"/>
                </a:solidFill>
                <a:latin typeface="Aptos"/>
              </a:rPr>
              <a:t>распроданность домов с вводом 2026 при норме ~70%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2606040"/>
            <a:ext cx="3291840" cy="1143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0" y="2606040"/>
            <a:ext cx="3291840" cy="54864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3792" y="2715768"/>
            <a:ext cx="29626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77B30"/>
                </a:solidFill>
                <a:latin typeface="Aptos Display"/>
              </a:rPr>
              <a:t>27%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322783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08080"/>
                </a:solidFill>
                <a:latin typeface="Aptos"/>
              </a:rPr>
              <a:t>портфеля строится в зоне слабого спроса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49039"/>
            <a:ext cx="7863840" cy="5486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49039"/>
            <a:ext cx="54864" cy="548640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49039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C77B30"/>
                </a:solidFill>
                <a:latin typeface="Aptos"/>
              </a:rPr>
              <a:t>ВОПРОС, КОТОРЫЙ ВСЕ ЗНАЮТ И НИКТО НЕ ПРОИЗНОСИТ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Кто-то должен принять на себя убыток за чрезмерный оптимизм прошлых лет. Кто и в какой форме? Оценка 2–3× — гипотеза; пилотная экспертиза её проверит.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434840"/>
            <a:ext cx="749807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Оценка масштаба — экспертная; косвенные данные: ДОМ.РФ, ЕРЗ.РФ,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ПРОБЛЕМА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Убыток есть, но у него нет добровольного хозяина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228600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2286000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2821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Девелопер: держит цену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20824"/>
            <a:ext cx="2029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не может продать ниже «покупка + бридж»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228600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2286000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172821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Банк: пролонгирует бридж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936" y="2020824"/>
            <a:ext cx="2029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забрать залог = резервы по всем аналогичным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3063240"/>
            <a:ext cx="228600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3063240"/>
            <a:ext cx="2286000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7016" y="319125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Оценщик: подтверждает цену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3483864"/>
            <a:ext cx="2029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сопоставимых сделок нет — никто не продаёт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017520" y="1805940"/>
            <a:ext cx="3108960" cy="22860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цена не падает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194560"/>
            <a:ext cx="201168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23317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 spc="100">
                <a:solidFill>
                  <a:srgbClr val="FFFFFF"/>
                </a:solidFill>
                <a:latin typeface="Aptos SemiBold"/>
              </a:rPr>
              <a:t>EXTEND AND PRETEND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61518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D9D9D9"/>
                </a:solidFill>
                <a:latin typeface="Aptos"/>
              </a:rPr>
              <a:t>убыток без хозяина</a:t>
            </a:r>
          </a:p>
        </p:txBody>
      </p:sp>
      <p:sp>
        <p:nvSpPr>
          <p:cNvPr id="22" name="Right Arrow 21"/>
          <p:cNvSpPr/>
          <p:nvPr/>
        </p:nvSpPr>
        <p:spPr>
          <a:xfrm rot="8100000">
            <a:off x="5623560" y="2651760"/>
            <a:ext cx="777240" cy="22860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26060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залог не продаётся</a:t>
            </a:r>
          </a:p>
        </p:txBody>
      </p:sp>
      <p:sp>
        <p:nvSpPr>
          <p:cNvPr id="24" name="Right Arrow 23"/>
          <p:cNvSpPr/>
          <p:nvPr/>
        </p:nvSpPr>
        <p:spPr>
          <a:xfrm rot="12900000">
            <a:off x="2697480" y="2651760"/>
            <a:ext cx="914400" cy="22860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2743200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оценка не меняется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ПЕРЕЛОМ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Тупик ломают конструкции, а не ожидание разворота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2651760" cy="8046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910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08080"/>
                </a:solidFill>
                <a:latin typeface="Aptos Display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1609344"/>
            <a:ext cx="18653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Время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92024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бриджи имеют сроки; каждая пролонгация дороже предыдущей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95728"/>
            <a:ext cx="2651760" cy="8046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5054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08080"/>
                </a:solidFill>
                <a:latin typeface="Aptos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523744"/>
            <a:ext cx="18653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Регулятор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464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ЦБ фиксирует рост реструктуризаций; честность оценок — вопрос времени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10128"/>
            <a:ext cx="2651760" cy="8046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4198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08080"/>
                </a:solidFill>
                <a:latin typeface="Aptos Display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438144"/>
            <a:ext cx="18653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Первые продажи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749039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~60 вынужденных сделок M&amp;A уже создают новые ценовые точки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1481328"/>
            <a:ext cx="4937760" cy="26334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66160" y="1481328"/>
            <a:ext cx="4937760" cy="6400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67328" y="166420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ptos Display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2194560"/>
            <a:ext cx="45354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ptos SemiBold"/>
              </a:rPr>
              <a:t>Конструкции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2560320"/>
            <a:ext cx="453542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механизмы, делающие признание убытка приватным и постепенным — единственный управляемый путь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8" y="3218688"/>
            <a:ext cx="45354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Aptos"/>
              </a:rPr>
              <a:t>Первые три силы не выбирают выгодоприобретателя. Четвёртая — профессия.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ПЕРЕЛОМ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Отрасль сама назвала тему года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77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D9D9D9"/>
                </a:solidFill>
                <a:latin typeface="Aptos Display"/>
              </a:rPr>
              <a:t>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37360"/>
            <a:ext cx="6583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1A1A1A"/>
                </a:solidFill>
                <a:latin typeface="Aptos Serif"/>
              </a:rPr>
              <a:t>От кредитования к совместному бизнесу: эволюция отношений банков и девелоперов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06324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Aptos"/>
              </a:rPr>
              <a:t>— центральная финансовая конференция форума «Движение», июнь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6576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Aptos"/>
              </a:rPr>
              <a:t>Центральная тема отрасли — дословно наша заявленная миссия.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РЕШЕНИЕ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Семь конструкций: разделить проект, распределить убыток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26464"/>
            <a:ext cx="786384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274320" cy="27432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 Display"/>
              </a:rPr>
              <a:t>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1426464"/>
            <a:ext cx="74615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FFFFFF"/>
                </a:solidFill>
                <a:latin typeface="Aptos SemiBold"/>
              </a:rPr>
              <a:t>ВХОД В ПРОЕКТ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СП с co-investment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партнёр рискует своими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3472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33472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Fee-девелопмент с опционом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оплата по результату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26864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26864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6592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Мезонин с equity-kicker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долг с конверсией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0255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0255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Поэтапный вход по вехам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3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переоценка малыми шагами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633472"/>
            <a:ext cx="7863840" cy="274320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2633472"/>
            <a:ext cx="274320" cy="274320"/>
          </a:xfrm>
          <a:prstGeom prst="rect">
            <a:avLst/>
          </a:prstGeom>
          <a:solidFill>
            <a:srgbClr val="8F5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6334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 Display"/>
              </a:rPr>
              <a:t>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" y="2633472"/>
            <a:ext cx="74615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FFFFFF"/>
                </a:solidFill>
                <a:latin typeface="Aptos SemiBold"/>
              </a:rPr>
              <a:t>РАЗБОР НАВЕСА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962656"/>
            <a:ext cx="2532888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2962656"/>
            <a:ext cx="2532888" cy="4114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054096"/>
            <a:ext cx="2313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Взнос земли с субординацией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392424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дисконт через распределение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05556" y="2962656"/>
            <a:ext cx="2532888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05556" y="2962656"/>
            <a:ext cx="2532888" cy="4114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15284" y="3054096"/>
            <a:ext cx="2313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Опцион вместо покупки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15284" y="3392424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платит тот, кто верит в разворот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71032" y="2962656"/>
            <a:ext cx="2532888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71032" y="2962656"/>
            <a:ext cx="2532888" cy="4114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3054096"/>
            <a:ext cx="2313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Конверсия бриджа в долю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392424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внутригрупповая механика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3977639"/>
            <a:ext cx="7863840" cy="3200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" y="3977639"/>
            <a:ext cx="54864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977639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F3A5F"/>
                </a:solidFill>
                <a:latin typeface="Aptos"/>
              </a:rPr>
              <a:t>КЛЮЧ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Убыток принимается приватно и постепенно, с сохранением лица всех сторон.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РЕШЕНИЕ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Что получает банк: проект проходит комитет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08176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Расчётное покрытие проекта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471830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не проходит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58383" y="1645920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зона нормы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1151" y="1645920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комфорт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47088"/>
            <a:ext cx="4718303" cy="2743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58383" y="1847088"/>
            <a:ext cx="1572768" cy="274320"/>
          </a:xfrm>
          <a:prstGeom prst="rect">
            <a:avLst/>
          </a:prstGeom>
          <a:solidFill>
            <a:srgbClr val="B1BA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31151" y="1847088"/>
            <a:ext cx="1572768" cy="274320"/>
          </a:xfrm>
          <a:prstGeom prst="rect">
            <a:avLst/>
          </a:prstGeom>
          <a:solidFill>
            <a:srgbClr val="6D7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874519"/>
            <a:ext cx="4325112" cy="10972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02536"/>
            <a:ext cx="61337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167128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77B30"/>
                </a:solidFill>
                <a:latin typeface="Aptos"/>
              </a:rPr>
              <a:t>без партнёрского equity — 55%*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167128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Aptos"/>
              </a:rPr>
              <a:t>с партнёрским equity — 78%*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377440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* значения иллюстративные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5117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Два сценария одного проекта на одной шкале — не сложение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761488"/>
            <a:ext cx="3831336" cy="10972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2761488"/>
            <a:ext cx="3831336" cy="502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2889504"/>
            <a:ext cx="3538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  <a:latin typeface="Aptos SemiBold"/>
              </a:rPr>
              <a:t>Качество портфеля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182112"/>
            <a:ext cx="3538728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62626"/>
                </a:solidFill>
                <a:latin typeface="Aptos"/>
              </a:rPr>
              <a:t>Оператор с оплатой за результат снижает риск срыва графика — при 58% переносов это фактор качества.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72584" y="2761488"/>
            <a:ext cx="3831336" cy="10972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72584" y="2761488"/>
            <a:ext cx="3831336" cy="502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18888" y="2889504"/>
            <a:ext cx="3538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  <a:latin typeface="Aptos SemiBold"/>
              </a:rPr>
              <a:t>Расчистка навеса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18888" y="3182112"/>
            <a:ext cx="3538728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62626"/>
                </a:solidFill>
                <a:latin typeface="Aptos"/>
              </a:rPr>
              <a:t>Опционы, субординация, конверсия — без единовременных резервов и публичных переоценок.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931920"/>
            <a:ext cx="7863840" cy="3657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931920"/>
            <a:ext cx="54864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93192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F3A5F"/>
                </a:solidFill>
                <a:latin typeface="Aptos"/>
              </a:rPr>
              <a:t>И РОЛЬ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Банк становится партнёром, а не только кредитором, — в русле тренда, который отрасль объявила главным.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34840"/>
            <a:ext cx="749807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Значения покрытия на шкале — иллюстративные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НАША РОЛЬ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Группе нужен приёмник акционерного риска — это 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37744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ptos SemiBold"/>
              </a:rPr>
              <a:t>БАНК: кредитный риск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554480"/>
            <a:ext cx="274320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55448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ptos SemiBold"/>
              </a:rPr>
              <a:t>ПРОФИЛЬНАЯ ДОЧКА — МЫ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08960" y="1805940"/>
            <a:ext cx="1005840" cy="22860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48132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F3A5F"/>
                </a:solidFill>
                <a:latin typeface="Aptos"/>
              </a:rPr>
              <a:t>акционерный риск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10312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по утверждённому порядку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743200"/>
            <a:ext cx="1691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743200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Внешний покупатель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743200"/>
            <a:ext cx="169164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60" y="2743200"/>
            <a:ext cx="169164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27889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ptos SemiBold"/>
              </a:rPr>
              <a:t>ПФ-БЛОК</a:t>
            </a:r>
          </a:p>
        </p:txBody>
      </p:sp>
      <p:sp>
        <p:nvSpPr>
          <p:cNvPr id="17" name="Rectangle 16"/>
          <p:cNvSpPr/>
          <p:nvPr/>
        </p:nvSpPr>
        <p:spPr>
          <a:xfrm rot="779677">
            <a:off x="1797558" y="2551176"/>
            <a:ext cx="2439923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2880360" y="2537460"/>
            <a:ext cx="274320" cy="45720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88950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продажа наружу = фиксация убытка — закрыто</a:t>
            </a:r>
          </a:p>
        </p:txBody>
      </p:sp>
      <p:sp>
        <p:nvSpPr>
          <p:cNvPr id="20" name="Right Arrow 19"/>
          <p:cNvSpPr/>
          <p:nvPr/>
        </p:nvSpPr>
        <p:spPr>
          <a:xfrm rot="5400000">
            <a:off x="6332220" y="2400300"/>
            <a:ext cx="320040" cy="22860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5160" y="2331720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докапитализация чинит покрытие их кредитов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F3A5F"/>
                </a:solidFill>
                <a:latin typeface="Aptos"/>
              </a:rPr>
              <a:t>Кредитный риск — ваш, акционерный — наш. Мезонин и конверсия бриджа — только как совместные продукты с ПФ.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НАША РОЛЬ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Наше преимущество — взгляд кредитора с обеих сторон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25603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1F3A5F"/>
                </a:solidFill>
                <a:latin typeface="Aptos Display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71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ptos SemiBold"/>
              </a:rPr>
              <a:t>лет на стыке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60020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Язык покрытия, ковенант и залогов — родной: мы понимаем и стройку, и кредитный комитет изнутри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2377440"/>
            <a:ext cx="493776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4688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Дисциплина «найти, где проект не сойдётся» — готовый due diligence; рынок платит за недоверие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3246120"/>
            <a:ext cx="493776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333756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Не всякая площадка должна быть проектом: отличаем переоценённую-но-нужную от ненужной ни за сколько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808080"/>
                </a:solidFill>
                <a:latin typeface="Aptos SemiBold"/>
              </a:rPr>
              <a:t>ПРЕДЛАГАЕМЫЕ ШАГИ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73152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ptos Display"/>
              </a:rPr>
              <a:t>С чего начать — без риска и без бюджета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Представительство на отраслевых площадках: озвучить повестку конструкций от имени структуры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737360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сентябрь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49424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4942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31136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Пилотная экспертиза 2–3 площадок из навеса: отбор и оценка глазами кредитора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2494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до 15.10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76148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7432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Диалог с блоком проектного финансирования: конструкции как общий инструмент, не конкуренция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76148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до 31.10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273552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273552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255264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Типовая конструкция для кредитного комитета: пакет документов одной сделки-образца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7355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к декабрю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7863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808080"/>
                </a:solidFill>
                <a:latin typeface="Aptos"/>
              </a:rPr>
              <a:t>При нулевом результате пилота тема закрывается без обязательств и последствий — риск ограничен временем четырёх шагов.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224528"/>
            <a:ext cx="786384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370832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Aptos"/>
              </a:rPr>
              <a:t>Ни один шаг не требует аппетита к риску: говорить, отбирать и считать — не инвестировать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