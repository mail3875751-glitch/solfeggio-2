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864"/>
        <p:guide orient="horz" pos="2707"/>
        <p:guide orient="horz" pos="2794"/>
        <p:guide orient="horz" pos="2938"/>
        <p:guide pos="403"/>
        <p:guide pos="53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808080"/>
                </a:solidFill>
                <a:latin typeface="Aptos SemiBold"/>
              </a:rPr>
              <a:t>ВНУТРЕННИЙ МАТЕРИАЛ · СТРАТЕГИЯ · АВГУСТ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7315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Aptos Display"/>
              </a:rPr>
              <a:t>Время партнёрских конструкций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95728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62626"/>
                </a:solidFill>
                <a:latin typeface="Aptos"/>
              </a:rPr>
              <a:t>Раньше мы не могли сформулировать, зачем рынку нужны мы. Теперь рынок сформулировал это за нас — осталось выйти и сказать.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20116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0976" y="3429000"/>
            <a:ext cx="201168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61872" y="3429000"/>
            <a:ext cx="201168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72768" y="3429000"/>
            <a:ext cx="201168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83664" y="3429000"/>
            <a:ext cx="201168" cy="20116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370832"/>
            <a:ext cx="786384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ptos"/>
              </a:rPr>
              <a:t>Материал для внутреннего обсуждения ·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808080"/>
                </a:solidFill>
                <a:latin typeface="Aptos SemiBold"/>
              </a:rPr>
              <a:t>КОНТЕКСТ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ptos Display"/>
              </a:rPr>
              <a:t>В эпоху лёгких денег партнёр был не нужен никому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3108960" cy="2377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1051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808080"/>
                </a:solidFill>
                <a:latin typeface="Aptos SemiBold"/>
              </a:rPr>
              <a:t>2020–2023: деньги за честное слово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04288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08080"/>
                </a:solidFill>
                <a:latin typeface="Aptos"/>
              </a:rPr>
              <a:t>Девелопер приходил в банк и получал финансирование напрямую — под проект, под имя, под рост рынка. Бридж под землю был доступен, льготная ипотека обеспечивала сбыт, маржа прощала ошибки структурирования.</a:t>
            </a:r>
          </a:p>
        </p:txBody>
      </p:sp>
      <p:sp>
        <p:nvSpPr>
          <p:cNvPr id="8" name="Oval 7"/>
          <p:cNvSpPr/>
          <p:nvPr/>
        </p:nvSpPr>
        <p:spPr>
          <a:xfrm>
            <a:off x="3954779" y="2320290"/>
            <a:ext cx="502920" cy="50292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0459" y="2320290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 SemiBold"/>
              </a:rPr>
              <a:t>»»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463040"/>
            <a:ext cx="3840480" cy="2743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463040"/>
            <a:ext cx="3840480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459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Aptos SemiBold"/>
              </a:rPr>
              <a:t>2026: деньги дорогие и недоверчивые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121408"/>
            <a:ext cx="3474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62626"/>
                </a:solidFill>
                <a:latin typeface="Aptos"/>
              </a:rPr>
              <a:t>Функция «партнёр-капитал, повышающий надёжность проекта» не имела спроса: девелоперу партнёры были не нужны, и сформулировать нашу роль в одном предложении было невозможно. Это не наша ошибка — это фаза рынка.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9184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Aptos"/>
              </a:rPr>
              <a:t>Роль, под которую создавалась структура, ждала своей фазы. Фаза наступила.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808080"/>
                </a:solidFill>
                <a:latin typeface="Aptos SemiBold"/>
              </a:rPr>
              <a:t>КОНТЕКСТ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ptos Display"/>
              </a:rPr>
              <a:t>Рынок пересобран: деньги стали дорогими и недоверчивыми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26464"/>
            <a:ext cx="109728" cy="109728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9903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ptos"/>
              </a:rPr>
              <a:t>было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426464"/>
            <a:ext cx="109728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139903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ptos"/>
              </a:rPr>
              <a:t>сейчас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ptos"/>
              </a:rPr>
              <a:t>Ключевая ставка ЦБ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847088"/>
            <a:ext cx="4754880" cy="1463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53351" y="1792224"/>
            <a:ext cx="82296" cy="256032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21984" y="1792224"/>
            <a:ext cx="82296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67335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ptos"/>
              </a:rPr>
              <a:t>21% → 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69164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пик пройден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194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ptos"/>
              </a:rPr>
              <a:t>Покрытие долга ПФ эскроу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350008"/>
            <a:ext cx="4754880" cy="1463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43546" y="2295144"/>
            <a:ext cx="82296" cy="256032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87668" y="2295144"/>
            <a:ext cx="82296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17627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ptos"/>
              </a:rPr>
              <a:t>88% → ~70%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19456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банки жёстче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97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ptos"/>
              </a:rPr>
              <a:t>Объекты с переносом сроков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852928"/>
            <a:ext cx="4754880" cy="1463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17082" y="2798064"/>
            <a:ext cx="82296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267919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ptos"/>
              </a:rPr>
              <a:t>58%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6974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волна реструктуризаций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ptos"/>
              </a:rPr>
              <a:t>Требование банков к equity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355848"/>
            <a:ext cx="4754880" cy="14630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12180" y="3300984"/>
            <a:ext cx="82296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3182112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ptos"/>
              </a:rPr>
              <a:t>15%+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2004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нужен партнёр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730752"/>
            <a:ext cx="786384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3730752"/>
            <a:ext cx="54864" cy="5669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730752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F3A5F"/>
                </a:solidFill>
                <a:latin typeface="Aptos"/>
              </a:rPr>
              <a:t>СДВИГ  </a:t>
            </a:r>
            <a:r>
              <a:rPr sz="1150" b="0" i="0">
                <a:solidFill>
                  <a:srgbClr val="262626"/>
                </a:solidFill>
                <a:latin typeface="Aptos"/>
              </a:rPr>
              <a:t>Девелоперы осваивают навыки банкиров: финансовая инженерия стала ядром бизнеса. Спрос на переводчика между контурами — максимальный.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434840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ptos"/>
              </a:rPr>
              <a:t>Источники: ЦБ РФ, ДОМ.РФ, ЕРЗ.РФ, Коммерсантъ, 2025–2026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808080"/>
                </a:solidFill>
                <a:latin typeface="Aptos SemiBold"/>
              </a:rP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ptos Display"/>
              </a:rPr>
              <a:t>Куплено в 2–3 раза больше, чем рынок может съесть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66160"/>
            <a:ext cx="4023360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1188720" cy="64008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 Display"/>
              </a:rPr>
              <a:t>1×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286000"/>
            <a:ext cx="1188720" cy="12801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1760" y="1645920"/>
            <a:ext cx="1188720" cy="64008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4231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 Display"/>
              </a:rPr>
              <a:t>2–3×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93591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ptos"/>
              </a:rPr>
              <a:t>Реальный спрос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593591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ptos"/>
              </a:rPr>
              <a:t>Купленные площадки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463040"/>
            <a:ext cx="329184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463040"/>
            <a:ext cx="3291840" cy="54864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1572768"/>
            <a:ext cx="29626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77B30"/>
                </a:solidFill>
                <a:latin typeface="Aptos Display"/>
              </a:rPr>
              <a:t>52%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084831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08080"/>
                </a:solidFill>
                <a:latin typeface="Aptos"/>
              </a:rPr>
              <a:t>распроданность домов с вводом 2026 при норме ~70%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697480"/>
            <a:ext cx="3291840" cy="1143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2697480"/>
            <a:ext cx="3291840" cy="54864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2807208"/>
            <a:ext cx="29626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77B30"/>
                </a:solidFill>
                <a:latin typeface="Aptos Display"/>
              </a:rPr>
              <a:t>27%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319272"/>
            <a:ext cx="29626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08080"/>
                </a:solidFill>
                <a:latin typeface="Aptos"/>
              </a:rPr>
              <a:t>портфеля строится в зоне слабого спроса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58768"/>
            <a:ext cx="7863840" cy="4389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858768"/>
            <a:ext cx="54864" cy="438912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58768"/>
            <a:ext cx="749807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C77B30"/>
                </a:solidFill>
                <a:latin typeface="Aptos"/>
              </a:rPr>
              <a:t>ВОПРОС, КОТОРЫЙ ВСЕ ЗНАЮТ И НИКТО НЕ ПРОИЗНОСИТ  </a:t>
            </a:r>
            <a:r>
              <a:rPr sz="1150" b="0" i="0">
                <a:solidFill>
                  <a:srgbClr val="262626"/>
                </a:solidFill>
                <a:latin typeface="Aptos"/>
              </a:rPr>
              <a:t>Кто-то должен принять на себя убыток за чрезмерный оптимизм прошлых лет. Кто и в какой форме?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ptos"/>
              </a:rPr>
              <a:t>Оценка масштаба — экспертная; косвенные данные: ДОМ.РФ, ЕРЗ.РФ,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808080"/>
                </a:solidFill>
                <a:latin typeface="Aptos SemiBold"/>
              </a:rP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ptos Display"/>
              </a:rPr>
              <a:t>Убыток есть, но у него нет добровольного хозяина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2860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28600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ptos SemiBold"/>
              </a:rPr>
              <a:t>Девелопер: держит цену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20824"/>
            <a:ext cx="2029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62626"/>
                </a:solidFill>
                <a:latin typeface="Aptos"/>
              </a:rPr>
              <a:t>не может продать ниже «покупка + бридж»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22860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228600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728216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ptos SemiBold"/>
              </a:rPr>
              <a:t>Банк: пролонгирует бридж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020824"/>
            <a:ext cx="2029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62626"/>
                </a:solidFill>
                <a:latin typeface="Aptos"/>
              </a:rPr>
              <a:t>забрать залог = резервы по всем аналогичным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063240"/>
            <a:ext cx="2286000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3063240"/>
            <a:ext cx="2286000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3191256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ptos SemiBold"/>
              </a:rPr>
              <a:t>Оценщик: подтверждает цену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3483864"/>
            <a:ext cx="202996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62626"/>
                </a:solidFill>
                <a:latin typeface="Aptos"/>
              </a:rPr>
              <a:t>сопоставимых сделок нет — никто не продаёт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017520" y="1805940"/>
            <a:ext cx="3108960" cy="22860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57276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08080"/>
                </a:solidFill>
                <a:latin typeface="Aptos"/>
              </a:rPr>
              <a:t>цена не падает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2240280"/>
            <a:ext cx="173736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23500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00">
                <a:solidFill>
                  <a:srgbClr val="FFFFFF"/>
                </a:solidFill>
                <a:latin typeface="Aptos SemiBold"/>
              </a:rPr>
              <a:t>EXTEND AND PRETEND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59" y="260604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D9D9D9"/>
                </a:solidFill>
                <a:latin typeface="Aptos"/>
              </a:rPr>
              <a:t>убыток без хозяина</a:t>
            </a:r>
          </a:p>
        </p:txBody>
      </p:sp>
      <p:sp>
        <p:nvSpPr>
          <p:cNvPr id="22" name="Right Arrow 21"/>
          <p:cNvSpPr/>
          <p:nvPr/>
        </p:nvSpPr>
        <p:spPr>
          <a:xfrm rot="8100000">
            <a:off x="5486400" y="2651760"/>
            <a:ext cx="9144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239572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ptos"/>
              </a:rPr>
              <a:t>залог не продаётся</a:t>
            </a:r>
          </a:p>
        </p:txBody>
      </p:sp>
      <p:sp>
        <p:nvSpPr>
          <p:cNvPr id="24" name="Right Arrow 23"/>
          <p:cNvSpPr/>
          <p:nvPr/>
        </p:nvSpPr>
        <p:spPr>
          <a:xfrm rot="12900000">
            <a:off x="2697480" y="2651760"/>
            <a:ext cx="914400" cy="22860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27614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ptos"/>
              </a:rPr>
              <a:t>оценка не меняется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808080"/>
                </a:solidFill>
                <a:latin typeface="Aptos SemiBold"/>
              </a:rPr>
              <a:t>ПЕРЕЛОМ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ptos Display"/>
              </a:rPr>
              <a:t>Тупик ломают конструкции, а не ожидание разворота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2651760" cy="80467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591056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08080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1609344"/>
            <a:ext cx="1920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ptos SemiBold"/>
              </a:rPr>
              <a:t>Время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62626"/>
                </a:solidFill>
                <a:latin typeface="Aptos"/>
              </a:rPr>
              <a:t>бриджи имеют сроки; каждая пролонгация дороже предыдущей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95728"/>
            <a:ext cx="2651760" cy="80467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505456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08080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2523744"/>
            <a:ext cx="1920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ptos SemiBold"/>
              </a:rPr>
              <a:t>Регулятор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34640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62626"/>
                </a:solidFill>
                <a:latin typeface="Aptos"/>
              </a:rPr>
              <a:t>ЦБ фиксирует рост реструктуризаций; честность оценок — вопрос времени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10128"/>
            <a:ext cx="2651760" cy="80467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419856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08080"/>
                </a:solidFill>
                <a:latin typeface="Aptos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438144"/>
            <a:ext cx="1920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ptos SemiBold"/>
              </a:rPr>
              <a:t>Первые продажи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749039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262626"/>
                </a:solidFill>
                <a:latin typeface="Aptos"/>
              </a:rPr>
              <a:t>~60 вынужденных сделок M&amp;A уже создают новые ценовые точки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481328"/>
            <a:ext cx="4937760" cy="263347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1481328"/>
            <a:ext cx="4937760" cy="64008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7328" y="1664208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77B30"/>
                </a:solidFill>
                <a:latin typeface="Aptos Displa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2194560"/>
            <a:ext cx="4535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ptos SemiBold"/>
              </a:rPr>
              <a:t>Конструкции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2560320"/>
            <a:ext cx="4535424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62626"/>
                </a:solidFill>
                <a:latin typeface="Aptos"/>
              </a:rPr>
              <a:t>механизмы, делающие признание убытка приватным и постепенным — единственный управляемый путь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3218688"/>
            <a:ext cx="453542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Aptos"/>
              </a:rPr>
              <a:t>Первые три силы не выбирают выгодоприобретателя. Четвёртая — профессия.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808080"/>
                </a:solidFill>
                <a:latin typeface="Aptos SemiBold"/>
              </a:rPr>
              <a:t>ПЕРЕЛОМ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ptos Display"/>
              </a:rPr>
              <a:t>Отрасль сама назвала тему года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822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D9D9D9"/>
                </a:solidFill>
                <a:latin typeface="Aptos Display"/>
              </a:rPr>
              <a:t>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6583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1A1A1A"/>
                </a:solidFill>
                <a:latin typeface="Aptos Serif"/>
              </a:rPr>
              <a:t>От кредитования к совместному бизнесу: эволюция отношений банков и девелоперов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632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08080"/>
                </a:solidFill>
                <a:latin typeface="Aptos"/>
              </a:rPr>
              <a:t>— центральная финансовая конференция форума «Движение», июнь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6576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Aptos"/>
              </a:rPr>
              <a:t>Центральная тема отрасли — дословно наша заявленная миссия.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808080"/>
                </a:solidFill>
                <a:latin typeface="Aptos SemiBold"/>
              </a:rPr>
              <a:t>РЕШЕНИЕ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ptos Display"/>
              </a:rPr>
              <a:t>Семь конструкций: разделить проект, распределить убыток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7863840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10896" cy="310896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 Display"/>
              </a:rPr>
              <a:t>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74249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FFFFFF"/>
                </a:solidFill>
                <a:latin typeface="Aptos SemiBold"/>
              </a:rPr>
              <a:t>ВХОД В ПРОЕКТ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1874519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1874519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56816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A1A1A"/>
                </a:solidFill>
                <a:latin typeface="Aptos SemiBold"/>
              </a:rPr>
              <a:t>СП с co-investment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04872"/>
            <a:ext cx="16550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партнёр рискует своими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847088"/>
            <a:ext cx="1874519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1847088"/>
            <a:ext cx="1874519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956816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A1A1A"/>
                </a:solidFill>
                <a:latin typeface="Aptos SemiBold"/>
              </a:rPr>
              <a:t>Fee-девелопмент с опционом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404872"/>
            <a:ext cx="16550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оплата по результату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26864" y="1847088"/>
            <a:ext cx="1874519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26864" y="1847088"/>
            <a:ext cx="1874519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1956816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A1A1A"/>
                </a:solidFill>
                <a:latin typeface="Aptos SemiBold"/>
              </a:rPr>
              <a:t>Мезонин с equity-kicker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404872"/>
            <a:ext cx="16550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долг с конверсией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0255" y="1847088"/>
            <a:ext cx="1874519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0255" y="1847088"/>
            <a:ext cx="1874519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3" y="1956816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A1A1A"/>
                </a:solidFill>
                <a:latin typeface="Aptos SemiBold"/>
              </a:rPr>
              <a:t>Поэтапный вход по вехам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3" y="2404872"/>
            <a:ext cx="16550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переоценка малыми шагами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788920"/>
            <a:ext cx="7863840" cy="310896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2788920"/>
            <a:ext cx="310896" cy="310896"/>
          </a:xfrm>
          <a:prstGeom prst="rect">
            <a:avLst/>
          </a:prstGeom>
          <a:solidFill>
            <a:srgbClr val="8F5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889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 Display"/>
              </a:rPr>
              <a:t>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2788920"/>
            <a:ext cx="742492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FFFFFF"/>
                </a:solidFill>
                <a:latin typeface="Aptos SemiBold"/>
              </a:rPr>
              <a:t>РАЗБОР НАВЕСА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172968"/>
            <a:ext cx="2532888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172968"/>
            <a:ext cx="2532888" cy="41148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282696"/>
            <a:ext cx="2313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A1A1A"/>
                </a:solidFill>
                <a:latin typeface="Aptos SemiBold"/>
              </a:rPr>
              <a:t>Взнос земли с субординацией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456432"/>
            <a:ext cx="2313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дисконт через распределение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05556" y="3172968"/>
            <a:ext cx="2532888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05556" y="3172968"/>
            <a:ext cx="2532888" cy="41148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5284" y="3282696"/>
            <a:ext cx="2313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A1A1A"/>
                </a:solidFill>
                <a:latin typeface="Aptos SemiBold"/>
              </a:rPr>
              <a:t>Опцион вместо покупки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15284" y="3456432"/>
            <a:ext cx="2313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платит тот, кто верит в разворот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71032" y="3172968"/>
            <a:ext cx="2532888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1032" y="3172968"/>
            <a:ext cx="2532888" cy="41148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3282696"/>
            <a:ext cx="2313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A1A1A"/>
                </a:solidFill>
                <a:latin typeface="Aptos SemiBold"/>
              </a:rPr>
              <a:t>Конверсия бриджа в долю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3456432"/>
            <a:ext cx="23134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внутригрупповая механика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950208"/>
            <a:ext cx="7863840" cy="34747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3950208"/>
            <a:ext cx="54864" cy="34747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950208"/>
            <a:ext cx="749807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F3A5F"/>
                </a:solidFill>
                <a:latin typeface="Aptos"/>
              </a:rPr>
              <a:t>КЛЮЧ  </a:t>
            </a:r>
            <a:r>
              <a:rPr sz="1150" b="0" i="0">
                <a:solidFill>
                  <a:srgbClr val="262626"/>
                </a:solidFill>
                <a:latin typeface="Aptos"/>
              </a:rPr>
              <a:t>Убыток принимается приватно и постепенно, с сохранением лица всех сторон.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808080"/>
                </a:solidFill>
                <a:latin typeface="Aptos SemiBold"/>
              </a:rPr>
              <a:t>РЕШЕНИЕ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ptos Display"/>
              </a:rPr>
              <a:t>Что получает банк: проект проходит комитет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Aptos SemiBold"/>
              </a:rPr>
              <a:t>Расчётное покрытие проекта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4718303" cy="31089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58383" y="1691640"/>
            <a:ext cx="1572768" cy="310896"/>
          </a:xfrm>
          <a:prstGeom prst="rect">
            <a:avLst/>
          </a:prstGeom>
          <a:solidFill>
            <a:srgbClr val="B1B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31151" y="1691640"/>
            <a:ext cx="1572768" cy="310896"/>
          </a:xfrm>
          <a:prstGeom prst="rect">
            <a:avLst/>
          </a:prstGeom>
          <a:solidFill>
            <a:srgbClr val="6D7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471830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62626"/>
                </a:solidFill>
                <a:latin typeface="Aptos"/>
              </a:rPr>
              <a:t>не проходит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58383" y="1691640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ptos"/>
              </a:rPr>
              <a:t>зона нормы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1" y="1691640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Aptos"/>
              </a:rPr>
              <a:t>комфорт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719072"/>
            <a:ext cx="4325112" cy="109728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828800"/>
            <a:ext cx="6133795" cy="10972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48256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77B30"/>
                </a:solidFill>
                <a:latin typeface="Aptos"/>
              </a:rPr>
              <a:t>без партнёрского equity — 55%*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48256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1F3A5F"/>
                </a:solidFill>
                <a:latin typeface="Aptos"/>
              </a:rPr>
              <a:t>с партнёрским equity — 78%*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286000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ptos"/>
              </a:rPr>
              <a:t>* значения иллюстративные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42032"/>
            <a:ext cx="3831336" cy="1234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542032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670048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ptos SemiBold"/>
              </a:rPr>
              <a:t>Качество портфеля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962656"/>
            <a:ext cx="353872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62626"/>
                </a:solidFill>
                <a:latin typeface="Aptos"/>
              </a:rPr>
              <a:t>Оператор с оплатой за результат снижает риск срыва графика — при 58% переносов это фактор качества.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72584" y="2542032"/>
            <a:ext cx="3831336" cy="1234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72584" y="2542032"/>
            <a:ext cx="3831336" cy="502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2670048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Aptos SemiBold"/>
              </a:rPr>
              <a:t>Расчистка навеса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2962656"/>
            <a:ext cx="353872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62626"/>
                </a:solidFill>
                <a:latin typeface="Aptos"/>
              </a:rPr>
              <a:t>Опционы, субординация, конверсия — без единовременных резервов и публичных переоценок.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931920"/>
            <a:ext cx="54864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93192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F3A5F"/>
                </a:solidFill>
                <a:latin typeface="Aptos"/>
              </a:rPr>
              <a:t>И РОЛЬ  </a:t>
            </a:r>
            <a:r>
              <a:rPr sz="1150" b="0" i="0">
                <a:solidFill>
                  <a:srgbClr val="262626"/>
                </a:solidFill>
                <a:latin typeface="Aptos"/>
              </a:rPr>
              <a:t>Банк становится партнёром, а не только кредитором, — в русле тренда, который отрасль объявила главным.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ptos"/>
              </a:rPr>
              <a:t>Значения покрытия на шкале — иллюстративные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808080"/>
                </a:solidFill>
                <a:latin typeface="Aptos SemiBold"/>
              </a:rPr>
              <a:t>НАША РОЛЬ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ptos Display"/>
              </a:rPr>
              <a:t>Группе нужен приёмник акционерного риска — это 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377440" cy="7315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 SemiBold"/>
              </a:rPr>
              <a:t>БАНК: кредитный риск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554480"/>
            <a:ext cx="2743200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5544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Aptos SemiBold"/>
              </a:rPr>
              <a:t>ПРОФИЛЬНАЯ ДОЧКА — МЫ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1805940"/>
            <a:ext cx="1005840" cy="228600"/>
          </a:xfrm>
          <a:prstGeom prst="rightArrow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59105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" b="0" i="0">
                <a:solidFill>
                  <a:srgbClr val="1F3A5F"/>
                </a:solidFill>
                <a:latin typeface="Aptos"/>
              </a:rPr>
              <a:t>акционерный риск — по процедуре сверху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2996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08080"/>
                </a:solidFill>
                <a:latin typeface="Aptos"/>
              </a:rPr>
              <a:t>не просьба — регламент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743200"/>
            <a:ext cx="1691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743200"/>
            <a:ext cx="1691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Внешний покупатель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2743200"/>
            <a:ext cx="169164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2743200"/>
            <a:ext cx="169164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78892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ptos SemiBold"/>
              </a:rPr>
              <a:t>ПФ-БЛОК</a:t>
            </a:r>
          </a:p>
        </p:txBody>
      </p:sp>
      <p:sp>
        <p:nvSpPr>
          <p:cNvPr id="17" name="Rectangle 16"/>
          <p:cNvSpPr/>
          <p:nvPr/>
        </p:nvSpPr>
        <p:spPr>
          <a:xfrm rot="779677">
            <a:off x="1797558" y="2551176"/>
            <a:ext cx="2439923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2880360" y="2537460"/>
            <a:ext cx="274320" cy="45720"/>
          </a:xfrm>
          <a:prstGeom prst="rect">
            <a:avLst/>
          </a:prstGeom>
          <a:solidFill>
            <a:srgbClr val="C77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35915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08080"/>
                </a:solidFill>
                <a:latin typeface="Aptos"/>
              </a:rPr>
              <a:t>продажа наружу = фиксация убытка — закрыто</a:t>
            </a:r>
          </a:p>
        </p:txBody>
      </p:sp>
      <p:sp>
        <p:nvSpPr>
          <p:cNvPr id="20" name="Right Arrow 19"/>
          <p:cNvSpPr/>
          <p:nvPr/>
        </p:nvSpPr>
        <p:spPr>
          <a:xfrm rot="1123547">
            <a:off x="5540147" y="2400300"/>
            <a:ext cx="1424124" cy="228600"/>
          </a:xfrm>
          <a:prstGeom prst="rightArrow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3317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Aptos"/>
              </a:rPr>
              <a:t>докапитализация чинит покрытие их кредитов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77639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F3A5F"/>
                </a:solidFill>
                <a:latin typeface="Aptos"/>
              </a:rPr>
              <a:t>Кредитный риск — ваш, акционерный — наш. Разделение по природе риска, не по успеху.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808080"/>
                </a:solidFill>
                <a:latin typeface="Aptos SemiBold"/>
              </a:rPr>
              <a:t>НАША РОЛЬ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731520" cy="411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ptos Display"/>
              </a:rPr>
              <a:t>Наше преимущество — взгляд кредитора с обеих сторон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25603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>
                <a:solidFill>
                  <a:srgbClr val="1F3A5F"/>
                </a:solidFill>
                <a:latin typeface="Aptos Display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Aptos SemiBold"/>
              </a:rPr>
              <a:t>лет на стыке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0020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62626"/>
                </a:solidFill>
                <a:latin typeface="Aptos"/>
              </a:rPr>
              <a:t>Язык покрытия, ковенант и залогов — родной: мы понимаем и стройку, и кредитный комитет изнутри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377440"/>
            <a:ext cx="493776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62626"/>
                </a:solidFill>
                <a:latin typeface="Aptos"/>
              </a:rPr>
              <a:t>Дисциплина «найти, где проект не сойдётся» — готовый due diligence; рынок платит за недоверие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3246120"/>
            <a:ext cx="493776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3375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62626"/>
                </a:solidFill>
                <a:latin typeface="Aptos"/>
              </a:rPr>
              <a:t>Не всякая площадка должна быть проектом: отличаем переоценённую-но-нужную от ненужной ни за сколько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4348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080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808080"/>
                </a:solidFill>
                <a:latin typeface="Aptos SemiBold"/>
              </a:rPr>
              <a:t>ПРЕДЛАГАЕМЫЕ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731520" cy="45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ptos Display"/>
              </a:rPr>
              <a:t>С чего начать — без риска и без бюджета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19072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Aptos"/>
              </a:rPr>
              <a:t>Представительство на отраслевых площадках: озвучить повестку конструкций от имени структуры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737360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F3A5F"/>
                </a:solidFill>
                <a:latin typeface="Aptos"/>
              </a:rPr>
              <a:t>сентябрь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04288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04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8600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Aptos"/>
              </a:rPr>
              <a:t>Пилотная экспертиза 2–3 площадок из навеса: отбор и оценка глазами кредитора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304288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F3A5F"/>
                </a:solidFill>
                <a:latin typeface="Aptos"/>
              </a:rPr>
              <a:t>октябрь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71215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71215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52927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Aptos"/>
              </a:rPr>
              <a:t>Диалог с блоком проектного финансирования: конструкции как общий инструмент, не конкуренция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871215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F3A5F"/>
                </a:solidFill>
                <a:latin typeface="Aptos"/>
              </a:rPr>
              <a:t>октябрь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38144"/>
            <a:ext cx="329184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381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19856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262626"/>
                </a:solidFill>
                <a:latin typeface="Aptos"/>
              </a:rPr>
              <a:t>Типовая конструкция для кредитного комитета: пакет документов одной сделки-образца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438144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F3A5F"/>
                </a:solidFill>
                <a:latin typeface="Aptos"/>
              </a:rPr>
              <a:t>к декабрю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24528"/>
            <a:ext cx="7863840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70832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  <a:latin typeface="Aptos"/>
              </a:rPr>
              <a:t>Ни один шаг не требует аппетита к риску: говорить, отбирать и считать — не инвестировать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