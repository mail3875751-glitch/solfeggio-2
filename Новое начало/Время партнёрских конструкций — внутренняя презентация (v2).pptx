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864"/>
        <p:guide orient="horz" pos="2707"/>
        <p:guide orient="horz" pos="2794"/>
        <p:guide orient="horz" pos="2938"/>
        <p:guide pos="403"/>
        <p:guide pos="535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ВНУТРЕННИЙ МАТЕРИАЛ · СТРАТЕГИЯ · АВГУСТ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A1A1A"/>
                </a:solidFill>
                <a:latin typeface="Aptos Display"/>
              </a:rPr>
              <a:t>Время партнёрских конструкций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95728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262626"/>
                </a:solidFill>
                <a:latin typeface="Aptos"/>
              </a:rPr>
              <a:t>Раньше мы не могли сформулировать, зачем рынку нужны мы. Теперь рынок сформулировал это за нас — осталось выйти и сказать.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0976" y="3429000"/>
            <a:ext cx="201168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61872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72768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83664" y="3429000"/>
            <a:ext cx="201168" cy="2011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370832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Материал для внутреннего обсуждения ·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В эпоху лёгких денег партнёр был не нужен никому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108960" cy="2377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81051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808080"/>
                </a:solidFill>
                <a:latin typeface="Aptos SemiBold"/>
              </a:rPr>
              <a:t>2020–2023: деньги за честное слово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04288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Девелопер приходил в банк и получал финансирование напрямую — под проект, под имя, под рост рынка. Бридж под землю был доступен, льготная ипотека обеспечивала сбыт, маржа прощала ошибки структурирования.</a:t>
            </a:r>
          </a:p>
        </p:txBody>
      </p:sp>
      <p:sp>
        <p:nvSpPr>
          <p:cNvPr id="8" name="Oval 7"/>
          <p:cNvSpPr/>
          <p:nvPr/>
        </p:nvSpPr>
        <p:spPr>
          <a:xfrm>
            <a:off x="3954779" y="2320290"/>
            <a:ext cx="502920" cy="502920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0459" y="2320290"/>
            <a:ext cx="1051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SemiBold"/>
              </a:rPr>
              <a:t>»»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463040"/>
            <a:ext cx="3840480" cy="27432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1463040"/>
            <a:ext cx="3840480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A1A1A"/>
                </a:solidFill>
                <a:latin typeface="Aptos SemiBold"/>
              </a:rPr>
              <a:t>2026: деньги дорогие и недоверчивые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121408"/>
            <a:ext cx="3474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62626"/>
                </a:solidFill>
                <a:latin typeface="Aptos"/>
              </a:rPr>
              <a:t>Функция «партнёр-капитал, повышающий надёжность проекта» не имела спроса: девелоперу партнёры были не нужны, и сформулировать нашу роль в одном предложении было невозможно. Это не наша ошибка — это фаза рынка.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291840"/>
            <a:ext cx="3474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Роль, под которую создавалась структура, ждала своей фазы. Фаза наступила.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Рынок пересобран: деньги стали дорогими и недоверчивыми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109728" cy="109728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3990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было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426464"/>
            <a:ext cx="109728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13990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сейчас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Ключевая ставка ЦБ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4708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3351" y="1792224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21984" y="179222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67335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21% → 14%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69164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пик пройден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1945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Покрытие долга ПФ эскроу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35000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43546" y="2295144"/>
            <a:ext cx="82296" cy="256032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87668" y="229514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217627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88% → ~70%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19456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банки жёстче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Объекты с переносом сроков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285292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17082" y="279806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267919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6974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волна реструктуризаций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200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Aptos"/>
              </a:rPr>
              <a:t>Требование банков к equity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55848"/>
            <a:ext cx="4754880" cy="1463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12180" y="3300984"/>
            <a:ext cx="82296" cy="25603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318211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  <a:latin typeface="Aptos"/>
              </a:rPr>
              <a:t>15%+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32004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нужен партнёр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730752"/>
            <a:ext cx="78638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3730752"/>
            <a:ext cx="54864" cy="5669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73075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СДВИГ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Девелоперы осваивают навыки банкиров: финансовая инженерия стала ядром бизнеса. Спрос на переводчика между контурами — максимальный.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Источники: ЦБ РФ, ДОМ.РФ, ЕРЗ.РФ, Коммерсантъ, 2025–2026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Куплено в 2–3 раза больше, чем рынок может съесть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566160"/>
            <a:ext cx="402336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926080"/>
            <a:ext cx="1188720" cy="64008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1×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286000"/>
            <a:ext cx="1188720" cy="12801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51760" y="1645920"/>
            <a:ext cx="1188720" cy="64008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4231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2–3×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59359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Реальный спрос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3593591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262626"/>
                </a:solidFill>
                <a:latin typeface="Aptos"/>
              </a:rPr>
              <a:t>Купленные площадки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46304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57276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084831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распроданность домов с вводом 2026 при норме ~70%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697480"/>
            <a:ext cx="329184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697480"/>
            <a:ext cx="3291840" cy="54864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93792" y="2807208"/>
            <a:ext cx="296265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27%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31927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08080"/>
                </a:solidFill>
                <a:latin typeface="Aptos"/>
              </a:rPr>
              <a:t>портфеля строится в зоне слабого спроса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58768"/>
            <a:ext cx="7863840" cy="43891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858768"/>
            <a:ext cx="54864" cy="438912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58768"/>
            <a:ext cx="749807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C77B30"/>
                </a:solidFill>
                <a:latin typeface="Aptos"/>
              </a:rPr>
              <a:t>ВОПРОС, КОТОРЫЙ ВСЕ ЗНАЮТ И НИКТО НЕ ПРОИЗНОСИТ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Кто-то должен принять на себя убыток за чрезмерный оптимизм прошлых лет. Кто и в какой форме?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масштаба — экспертная; косвенные данные: ДОМ.РФ, ЕРЗ.РФ,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Убыток есть, но у него нет добровольного хозяина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Девелопер: держит цену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не может продать ниже «покупка + бридж»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0020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172821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Банк: пролонгирует бридж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936" y="202082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забрать залог = резервы по всем аналогичным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3063240"/>
            <a:ext cx="228600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3063240"/>
            <a:ext cx="2286000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7016" y="3191256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Оценщик: подтверждает 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3483864"/>
            <a:ext cx="2029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сопоставимых сделок нет — никто не продаёт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017520" y="1805940"/>
            <a:ext cx="310896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572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цена не падает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2240280"/>
            <a:ext cx="173736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59" y="235000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spc="100">
                <a:solidFill>
                  <a:srgbClr val="FFFFFF"/>
                </a:solidFill>
                <a:latin typeface="Aptos SemiBold"/>
              </a:rPr>
              <a:t>EXTEND AND PRETEND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59" y="260604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D9D9D9"/>
                </a:solidFill>
                <a:latin typeface="Aptos"/>
              </a:rPr>
              <a:t>убыток без хозяина</a:t>
            </a:r>
          </a:p>
        </p:txBody>
      </p:sp>
      <p:sp>
        <p:nvSpPr>
          <p:cNvPr id="22" name="Right Arrow 21"/>
          <p:cNvSpPr/>
          <p:nvPr/>
        </p:nvSpPr>
        <p:spPr>
          <a:xfrm rot="8100000">
            <a:off x="548640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39572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залог не продаётся</a:t>
            </a:r>
          </a:p>
        </p:txBody>
      </p:sp>
      <p:sp>
        <p:nvSpPr>
          <p:cNvPr id="24" name="Right Arrow 23"/>
          <p:cNvSpPr/>
          <p:nvPr/>
        </p:nvSpPr>
        <p:spPr>
          <a:xfrm rot="12900000">
            <a:off x="2697480" y="2651760"/>
            <a:ext cx="914400" cy="228600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2761488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оценка не меняется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Тупик ломают конструкции, а не ожидание разворота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910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6093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202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бриджи имеют сроки; каждая пролонгация дороже предыдущей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957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5054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5237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Регулятор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464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ЦБ фиксирует рост реструктуризаций; честность оценок — вопрос времени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10128"/>
            <a:ext cx="2651760" cy="8046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419856"/>
            <a:ext cx="502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08080"/>
                </a:solidFill>
                <a:latin typeface="Aptos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4381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Первые продажи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749039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262626"/>
                </a:solidFill>
                <a:latin typeface="Aptos"/>
              </a:rPr>
              <a:t>~60 вынужденных сделок M&amp;A уже создают новые ценовые точки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1481328"/>
            <a:ext cx="4937760" cy="2633472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60" y="1481328"/>
            <a:ext cx="4937760" cy="6400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67328" y="166420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C77B30"/>
                </a:solidFill>
                <a:latin typeface="Aptos Display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2194560"/>
            <a:ext cx="45354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ptos SemiBold"/>
              </a:rPr>
              <a:t>Конструкции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560320"/>
            <a:ext cx="4535424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механизмы, делающие признание убытка приватным и постепенным — единственный управляемый путь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8" y="3218688"/>
            <a:ext cx="45354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Aptos"/>
              </a:rPr>
              <a:t>Первые три силы не выбирают выгодоприобретателя. Четвёртая — профессия.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ПЕРЕЛОМ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Отрасль сама назвала тему года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77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D9D9D9"/>
                </a:solidFill>
                <a:latin typeface="Aptos Display"/>
              </a:rPr>
              <a:t>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37360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1A1A1A"/>
                </a:solidFill>
                <a:latin typeface="Aptos Serif"/>
              </a:rPr>
              <a:t>От кредитования к совместному бизнесу: эволюция отношений банков и девелоперов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06324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08080"/>
                </a:solidFill>
                <a:latin typeface="Aptos"/>
              </a:rPr>
              <a:t>— центральная финансовая конференция форума «Движение», июнь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6576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ptos"/>
              </a:rPr>
              <a:t>Центральная тема отрасли — дословно наша заявленная миссия.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Семь конструкций: разделить проект, распределить убыток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26464"/>
            <a:ext cx="786384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1426464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ВХОД В ПРОЕКТ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СП с co-investment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партнёр рискует своими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33472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Fee-девелопмент с опционом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оплата по результату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6864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26864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Мезонин с equity-kicker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долг с конверсией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0255" y="1755648"/>
            <a:ext cx="1874519" cy="8229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0255" y="1755648"/>
            <a:ext cx="1874519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1847088"/>
            <a:ext cx="165506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Поэтапный вход по вехам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3" y="2185415"/>
            <a:ext cx="16550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переоценка малыми шагами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633472"/>
            <a:ext cx="7863840" cy="2743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solidFill>
            <a:srgbClr val="8F5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6334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 Display"/>
              </a:rPr>
              <a:t>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" y="2633472"/>
            <a:ext cx="746150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FFFFFF"/>
                </a:solidFill>
                <a:latin typeface="Aptos SemiBold"/>
              </a:rPr>
              <a:t>РАЗБОР НАВЕСА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Взнос земли с субординацией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дисконт через распределение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5556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05556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15284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Опцион вместо покупки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15284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платит тот, кто верит в разворот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71032" y="2962656"/>
            <a:ext cx="2532888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71032" y="2962656"/>
            <a:ext cx="2532888" cy="4114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3054096"/>
            <a:ext cx="2313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A1A1A"/>
                </a:solidFill>
                <a:latin typeface="Aptos SemiBold"/>
              </a:rPr>
              <a:t>Конверсия бриджа в долю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392424"/>
            <a:ext cx="2313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внутригрупповая механика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3977639"/>
            <a:ext cx="54864" cy="320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77639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КЛЮЧ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Убыток принимается приватно и постепенно, с сохранением лица всех сторон.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РЕШЕНИЕ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Что получает банк: проект проходит комитет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A1A1A"/>
                </a:solidFill>
                <a:latin typeface="Aptos SemiBold"/>
              </a:rPr>
              <a:t>Расчётное покрытие проекта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4718303" cy="31089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58383" y="1691640"/>
            <a:ext cx="1572768" cy="310896"/>
          </a:xfrm>
          <a:prstGeom prst="rect">
            <a:avLst/>
          </a:prstGeom>
          <a:solidFill>
            <a:srgbClr val="B1BA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31151" y="1691640"/>
            <a:ext cx="1572768" cy="310896"/>
          </a:xfrm>
          <a:prstGeom prst="rect">
            <a:avLst/>
          </a:prstGeom>
          <a:solidFill>
            <a:srgbClr val="6D7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4718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  <a:latin typeface="Aptos"/>
              </a:rPr>
              <a:t>не проходит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3" y="1691640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Aptos"/>
              </a:rPr>
              <a:t>зона нормы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1" y="1691640"/>
            <a:ext cx="15727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ptos"/>
              </a:rPr>
              <a:t>комфорт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719072"/>
            <a:ext cx="4325112" cy="109728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61337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840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77B30"/>
                </a:solidFill>
                <a:latin typeface="Aptos"/>
              </a:rPr>
              <a:t>без партнёрского equity — 55%*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48256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Aptos"/>
              </a:rPr>
              <a:t>с партнёрским equity — 78%*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86000"/>
            <a:ext cx="7863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* значения иллюстративные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42032"/>
            <a:ext cx="3831336" cy="1234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42032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70048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Качество портфеля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62656"/>
            <a:ext cx="353872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Оператор с оплатой за результат снижает риск срыва графика — при 58% переносов это фактор качества.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72584" y="2542032"/>
            <a:ext cx="3831336" cy="12344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72584" y="2542032"/>
            <a:ext cx="3831336" cy="502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18888" y="2670048"/>
            <a:ext cx="3538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A1A1A"/>
                </a:solidFill>
                <a:latin typeface="Aptos SemiBold"/>
              </a:rPr>
              <a:t>Расчистка навеса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962656"/>
            <a:ext cx="353872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62626"/>
                </a:solidFill>
                <a:latin typeface="Aptos"/>
              </a:rPr>
              <a:t>Опционы, субординация, конверсия — без единовременных резервов и публичных переоценок.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931920"/>
            <a:ext cx="54864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93192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1F3A5F"/>
                </a:solidFill>
                <a:latin typeface="Aptos"/>
              </a:rPr>
              <a:t>И РОЛЬ  </a:t>
            </a:r>
            <a:r>
              <a:rPr sz="1150" b="0" i="0">
                <a:solidFill>
                  <a:srgbClr val="262626"/>
                </a:solidFill>
                <a:latin typeface="Aptos"/>
              </a:rPr>
              <a:t>Банк становится партнёром, а не только кредитором, — в русле тренда, который отрасль объявила главным.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43484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Значения покрытия на шкале — иллюстративные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Группе нужен приёмник акционерного риска — это 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БАНК: кредитный риск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55448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ptos SemiBold"/>
              </a:rPr>
              <a:t>ПРОФИЛЬНАЯ ДОЧКА — МЫ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1805940"/>
            <a:ext cx="1005840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572768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1F3A5F"/>
                </a:solidFill>
                <a:latin typeface="Aptos"/>
              </a:rPr>
              <a:t>акционерный риск — по процедуре сверху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39112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08080"/>
                </a:solidFill>
                <a:latin typeface="Aptos"/>
              </a:rPr>
              <a:t>не просьба — регламент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743200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Внешний покупатель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743200"/>
            <a:ext cx="169164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2743200"/>
            <a:ext cx="169164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Aptos SemiBold"/>
              </a:rPr>
              <a:t>ПФ-БЛОК</a:t>
            </a:r>
          </a:p>
        </p:txBody>
      </p:sp>
      <p:sp>
        <p:nvSpPr>
          <p:cNvPr id="17" name="Rectangle 16"/>
          <p:cNvSpPr/>
          <p:nvPr/>
        </p:nvSpPr>
        <p:spPr>
          <a:xfrm rot="779677">
            <a:off x="1797558" y="2551176"/>
            <a:ext cx="2439923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2880360" y="2537460"/>
            <a:ext cx="274320" cy="45720"/>
          </a:xfrm>
          <a:prstGeom prst="rect">
            <a:avLst/>
          </a:prstGeom>
          <a:solidFill>
            <a:srgbClr val="C77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359152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08080"/>
                </a:solidFill>
                <a:latin typeface="Aptos"/>
              </a:rPr>
              <a:t>продажа наружу = фиксация убытка — закрыто</a:t>
            </a:r>
          </a:p>
        </p:txBody>
      </p:sp>
      <p:sp>
        <p:nvSpPr>
          <p:cNvPr id="20" name="Right Arrow 19"/>
          <p:cNvSpPr/>
          <p:nvPr/>
        </p:nvSpPr>
        <p:spPr>
          <a:xfrm rot="1123547">
            <a:off x="5540147" y="2400300"/>
            <a:ext cx="1424124" cy="22860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5160" y="2331720"/>
            <a:ext cx="1508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08080"/>
                </a:solidFill>
                <a:latin typeface="Aptos"/>
              </a:rPr>
              <a:t>докапитализация чинит покрытие их кредитов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977639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F3A5F"/>
                </a:solidFill>
                <a:latin typeface="Aptos"/>
              </a:rPr>
              <a:t>Кредитный риск — ваш, акционерный — наш. Разделение по природе риска, не по успеху.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7863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300">
                <a:solidFill>
                  <a:srgbClr val="808080"/>
                </a:solidFill>
                <a:latin typeface="Aptos SemiBold"/>
              </a:rPr>
              <a:t>НАША РОЛЬ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777240"/>
            <a:ext cx="731520" cy="411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ptos Display"/>
              </a:rPr>
              <a:t>Наше преимущество — взгляд кредитора с обеих сторон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25603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1F3A5F"/>
                </a:solidFill>
                <a:latin typeface="Aptos Display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ptos SemiBold"/>
              </a:rPr>
              <a:t>лет на стыке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Язык покрытия, ковенант и залогов — родной: мы понимаем и стройку, и кредитный комитет изнутри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237744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Дисциплина «найти, где проект не сойдётся» — готовый due diligence; рынок платит за недоверие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3246120"/>
            <a:ext cx="493776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33756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62626"/>
                </a:solidFill>
                <a:latin typeface="Aptos"/>
              </a:rPr>
              <a:t>Не всякая площадка должна быть проектом: отличаем переоценённую-но-нужную от ненужной ни за сколько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4434840"/>
            <a:ext cx="411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808080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808080"/>
                </a:solidFill>
                <a:latin typeface="Aptos SemiBold"/>
              </a:rPr>
              <a:t>ПРЕДЛАГАЕМЫЕ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68680"/>
            <a:ext cx="731520" cy="457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  <a:latin typeface="Aptos Display"/>
              </a:rPr>
              <a:t>С чего начать — без риска и без бюджета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Представительство на отраслевых площадках: озвучить повестку конструкций от имени структуры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сентябрь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04288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04288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86000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Пилотная экспертиза 2–3 площадок из навеса: отбор и оценка глазами кредитора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30428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октябрь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71215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71215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852927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Диалог с блоком проектного финансирования: конструкции как общий инструмент, не конкуренция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871215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октябрь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329184" cy="3291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381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19856"/>
            <a:ext cx="6217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62626"/>
                </a:solidFill>
                <a:latin typeface="Aptos"/>
              </a:rPr>
              <a:t>Типовая конструкция для кредитного комитета: пакет документов одной сделки-образца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43814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F3A5F"/>
                </a:solidFill>
                <a:latin typeface="Aptos"/>
              </a:rPr>
              <a:t>к декабрю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24528"/>
            <a:ext cx="7863840" cy="109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7083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08080"/>
                </a:solidFill>
                <a:latin typeface="Aptos"/>
              </a:rPr>
              <a:t>Ни один шаг не требует аппетита к риску: говорить, отбирать и считать — не инвестировать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