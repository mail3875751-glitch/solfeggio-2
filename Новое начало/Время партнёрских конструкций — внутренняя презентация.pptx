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864"/>
        <p:guide orient="horz" pos="2707"/>
        <p:guide orient="horz" pos="2794"/>
        <p:guide orient="horz" pos="2938"/>
        <p:guide pos="403"/>
        <p:guide pos="53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808080"/>
                </a:solidFill>
                <a:latin typeface="Aptos SemiBold"/>
              </a:rPr>
              <a:t>ВНУТРЕННИЙ МАТЕРИАЛ · СТРАТЕГИЯ · АВГУСТ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Aptos Display"/>
              </a:rPr>
              <a:t>Время партнёрских конструкций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95728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62626"/>
                </a:solidFill>
                <a:latin typeface="Aptos"/>
              </a:rPr>
              <a:t>Раньше мы не могли сформулировать, зачем рынку нужны мы. Теперь рынок сформулировал это за нас — осталось выйти и сказать.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20116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0976" y="3429000"/>
            <a:ext cx="20116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61872" y="3429000"/>
            <a:ext cx="201168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2768" y="3429000"/>
            <a:ext cx="201168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83664" y="3429000"/>
            <a:ext cx="201168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70832"/>
            <a:ext cx="786384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Aptos"/>
              </a:rPr>
              <a:t>Материал для внутреннего обсуждения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КОНТЕКСТ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В эпоху лёгких денег партнёр был не нужен никому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3831336" cy="2194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Как это работало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538728" cy="1664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Девелопер приходил в банк и получал финансирование напрямую — под проект, под имя, под рост рынка. Бридж под землю был доступен, льготная ипотека обеспечивала сбыт, маржа прощала ошибки структурирования.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2584" y="1481328"/>
            <a:ext cx="3831336" cy="2194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72584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Что это значило для нас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901952"/>
            <a:ext cx="3538728" cy="1664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Функция «партнёр-капитал, повышающий надёжность проекта» не имела спроса: девелоперу партнёры были не нужны, и сформулировать нашу роль в одном предложении было невозможно. Это не наша ошибка — это фаза рынка.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58768"/>
            <a:ext cx="7863840" cy="4389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858768"/>
            <a:ext cx="54864" cy="43891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58768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ТЕЗИС  </a:t>
            </a:r>
            <a:r>
              <a:rPr sz="1150" b="0">
                <a:solidFill>
                  <a:srgbClr val="262626"/>
                </a:solidFill>
                <a:latin typeface="Aptos"/>
              </a:rPr>
              <a:t>Роль, под которую создавалась структура, ждала своей фазы рынка. Фаза наступила.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КОНТЕКСТ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Рынок пересобран: деньги стали дорогими и недоверчивыми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7863840" cy="2167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463040"/>
                <a:gridCol w="32918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Показатель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Значение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Что это значит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Ключевая ставка ЦБ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21% → 14%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пик пройден, но деньги дороги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Покрытие долга ПФ эскроу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88% → ~70%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банки ужесточили андеррайтинг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Бридж под землю (пик)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25–26%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рынок земли в кредит встал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Объекты с переносом сроков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58%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волна реструктуризаций впереди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Сделки M&amp;A за 2025 (вынужденные)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~60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перераспределение уже идёт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Требование банков к equity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15%+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проектам не хватает капитала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730752"/>
            <a:ext cx="786384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730752"/>
            <a:ext cx="54864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30752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СДВИГ  </a:t>
            </a:r>
            <a:r>
              <a:rPr sz="1150" b="0">
                <a:solidFill>
                  <a:srgbClr val="262626"/>
                </a:solidFill>
                <a:latin typeface="Aptos"/>
              </a:rPr>
              <a:t>Девелоперы осваивают навыки банкиров: финансовая инженерия стала ядром бизнеса. Спрос на переводчика между контурами — максимальный.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Aptos"/>
              </a:rPr>
              <a:t>Источники: ЦБ РФ, ДОМ.РФ, ЕРЗ.РФ, Коммерсантъ, NSP, 2025–2026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Земельный навес: куплено кратно больше, чем нужно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Потенциал застройки накопленных земельных банков кратно — оценочно в 2–3 раза — превышает реальный спрос. Куплено в 2020–2023 на пике, на бриджах.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8416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Балансовая иллюзия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Площадки стоят на балансах по ценам рынка, которого больше нет. Распроданность ввода-2026 — 52% при норме ~70%; 27% портфеля — в зоне слабого спроса.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6752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Вера в разворот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Отрасль ждёт, что рынок «сам съест» навес. Объективно: спрос меньше потенциального предложения, разворот 2027–2028 съест лишь часть.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58768"/>
            <a:ext cx="7863840" cy="4389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58768"/>
            <a:ext cx="54864" cy="438912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58768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C77B30"/>
                </a:solidFill>
                <a:latin typeface="Aptos"/>
              </a:rPr>
              <a:t>ВОПРОС, КОТОРЫЙ ВСЕ ЗНАЮТ И НИКТО НЕ ПРОИЗНОСИТ  </a:t>
            </a:r>
            <a:r>
              <a:rPr sz="1150" b="0">
                <a:solidFill>
                  <a:srgbClr val="262626"/>
                </a:solidFill>
                <a:latin typeface="Aptos"/>
              </a:rPr>
              <a:t>Кто-то должен принять на себя убыток за чрезмерный оптимизм прошлых лет. Кто и в какой форме?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Aptos"/>
              </a:rPr>
              <a:t>Оценка масштаба — экспертная; косвенные данные: ДОМ.РФ, ЕРЗ.РФ,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Убыток есть, но у него нет добровольного хозяина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Девелопер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Не может продать ниже «покупка + бридж»: кристаллизация убытка, ковенанты, дефолт. Держит и пролонгирует.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8416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Банк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Не хочет забирать залог: продажа = переоценка всех аналогичных залогов портфеля и удар резервами. Пролонгировать дешевле.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6752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Оценка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«По сопоставимым сделкам», которых нет, потому что никто не продаёт. Оценка залогов держится на том, что залоги не продаются.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58768"/>
            <a:ext cx="7863840" cy="4389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58768"/>
            <a:ext cx="54864" cy="43891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58768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EXTEND AND PRETEND  </a:t>
            </a:r>
            <a:r>
              <a:rPr sz="1150" b="0">
                <a:solidFill>
                  <a:srgbClr val="262626"/>
                </a:solidFill>
                <a:latin typeface="Aptos"/>
              </a:rPr>
              <a:t>Каждый рационален по отдельности — вместе воспроизводят тупик. Признание убытка публично и разом невозможно ни для кого.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ПЕРЕЛОМ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Тупик ломают конструкции, а не ожидание разворота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3831336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tos SemiBold"/>
              </a:rPr>
              <a:t>Время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5387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262626"/>
                </a:solidFill>
                <a:latin typeface="Aptos"/>
              </a:rPr>
              <a:t>бриджи имеют сроки; каждая пролонгация дороже предыдущей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2584" y="1481328"/>
            <a:ext cx="3831336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72584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tos SemiBold"/>
              </a:rPr>
              <a:t>Регулятор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901952"/>
            <a:ext cx="35387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262626"/>
                </a:solidFill>
                <a:latin typeface="Aptos"/>
              </a:rPr>
              <a:t>ЦБ фиксирует рост реструктуризаций; честность залоговых оценок — вопрос времени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78608"/>
            <a:ext cx="3831336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57860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70662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tos SemiBold"/>
              </a:rPr>
              <a:t>Первые продажи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999232"/>
            <a:ext cx="35387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262626"/>
                </a:solidFill>
                <a:latin typeface="Aptos"/>
              </a:rPr>
              <a:t>~60 вынужденных сделок M&amp;A уже создают новые ценовые точки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2578608"/>
            <a:ext cx="3831336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72584" y="2578608"/>
            <a:ext cx="3831336" cy="50292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270662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tos SemiBold"/>
              </a:rPr>
              <a:t>Конструкции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2999232"/>
            <a:ext cx="35387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262626"/>
                </a:solidFill>
                <a:latin typeface="Aptos"/>
              </a:rPr>
              <a:t>механизмы, делающие признание убытка приватным и постепенным — единственный управляемый путь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67328"/>
            <a:ext cx="7863840" cy="53035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67328"/>
            <a:ext cx="54864" cy="5303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67328"/>
            <a:ext cx="749807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НАША ТЕРРИТОРИЯ  </a:t>
            </a:r>
            <a:r>
              <a:rPr sz="1150" b="0">
                <a:solidFill>
                  <a:srgbClr val="262626"/>
                </a:solidFill>
                <a:latin typeface="Aptos"/>
              </a:rPr>
              <a:t>Первые три силы не выбирают выгодоприобретателя. Четвёртая — профессия: её делают люди, умеющие считать и договариваться с обеих сторон стола.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ПЕРЕЛОМ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Отрасль сама назвала тему года: банки идут в капитал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5F"/>
                </a:solidFill>
                <a:latin typeface="Aptos Display"/>
              </a:rPr>
              <a:t>«От кредитования к совместному бизнесу:</a:t>
            </a:r>
          </a:p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5F"/>
                </a:solidFill>
                <a:latin typeface="Aptos Display"/>
              </a:rPr>
              <a:t>эволюция отношений банков и девелоперов»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9572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Aptos"/>
              </a:rPr>
              <a:t>— центральная финансовая конференция форума «Движение», июнь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3831336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962656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Что происходит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55264"/>
            <a:ext cx="35387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626"/>
                </a:solidFill>
                <a:latin typeface="Aptos"/>
              </a:rPr>
              <a:t>Банки начали входить в проекты как партнёры и соинвесторы; fee-девелопмент и СП растут; ЗПИФы недвижимости — ×1,5 за год.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2584" y="2834640"/>
            <a:ext cx="3831336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72584" y="2834640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962656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Что это значит для нас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255264"/>
            <a:ext cx="35387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626"/>
                </a:solidFill>
                <a:latin typeface="Aptos"/>
              </a:rPr>
              <a:t>Рынок пришёл в точку, под которую наша структура создавалась: вход в капитал проектов, повышающий их надёжность для банка.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33087"/>
            <a:ext cx="7863840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33087"/>
            <a:ext cx="54864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33087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ФОРМУЛА  </a:t>
            </a:r>
            <a:r>
              <a:rPr sz="1150" b="0">
                <a:solidFill>
                  <a:srgbClr val="262626"/>
                </a:solidFill>
                <a:latin typeface="Aptos"/>
              </a:rPr>
              <a:t>Центральная тема отрасли — дословно наша заявленная миссия.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Aptos"/>
              </a:rPr>
              <a:t>Форум «Движение»-2026, июнь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Семь конструкций: разделить проект, распределить убыток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26464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08080"/>
                </a:solidFill>
                <a:latin typeface="Aptos"/>
              </a:rPr>
              <a:t>Общий принцип: спор о стоимости компетенции и земли переводится из переговоров в механику сделки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831336" cy="208483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538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00">
                <a:solidFill>
                  <a:srgbClr val="1A1A1A"/>
                </a:solidFill>
                <a:latin typeface="Aptos SemiBold"/>
              </a:rPr>
              <a:t>ВХОД В ПРОЕКТ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12848"/>
            <a:ext cx="35387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—  СП с обязательным co-investment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—  Fee-девелопмент с опционом на прибыль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—  Мезонин с equity-kicker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—  Поэтапный вход по вехам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2584" y="1783080"/>
            <a:ext cx="3831336" cy="208483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72584" y="1783080"/>
            <a:ext cx="3831336" cy="50292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901952"/>
            <a:ext cx="3538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00">
                <a:solidFill>
                  <a:srgbClr val="1A1A1A"/>
                </a:solidFill>
                <a:latin typeface="Aptos SemiBold"/>
              </a:rPr>
              <a:t>РАЗБОР НАВЕСА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212848"/>
            <a:ext cx="35387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—  Взнос земли в СП с субординацией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—  Опцион вместо покупки земли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—  Конверсия бриджа в долю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50208"/>
            <a:ext cx="7863840" cy="34747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50208"/>
            <a:ext cx="54864" cy="34747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74980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КЛЮЧ  </a:t>
            </a:r>
            <a:r>
              <a:rPr sz="1150" b="0">
                <a:solidFill>
                  <a:srgbClr val="262626"/>
                </a:solidFill>
                <a:latin typeface="Aptos"/>
              </a:rPr>
              <a:t>Конструкции разбора навеса позволяют принять убыток, не называя его: приватно, постепенно, с сохранением лица всех сторон.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Что получает банк: покрытие, портфель, расчистка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Покрытие и LLCR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Партнёрское equity в проекте повышает расчётное покрытие — проходят проекты, которые сегодня получают отказ.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8416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Качество портфеля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Оператор с оплатой за результат снижает риск срыва графика — при 58% переносов это прямой фактор качества.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6752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Расчистка навеса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Опционы, субординация, конверсия — расчистка залоговой массы без единовременных резервов и публичных переоценок.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58768"/>
            <a:ext cx="7863840" cy="4389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58768"/>
            <a:ext cx="54864" cy="43891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58768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И РОЛЬ  </a:t>
            </a:r>
            <a:r>
              <a:rPr sz="1150" b="0">
                <a:solidFill>
                  <a:srgbClr val="262626"/>
                </a:solidFill>
                <a:latin typeface="Aptos"/>
              </a:rPr>
              <a:t>Банк становится партнёром, а не только кредитором, — в русле тренда, который отрасль уже объявила главным.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НАША РОЛЬ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Группе нужен приёмник акционерного риска — это 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Почему не сам банк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Держать equity на балансе банка дорого: нагрузка на капитал, непрофильный риск. Доли в проектах группы исторически живут в профильных дочках — это стандартная практика.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8416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Почему не внешние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Продажа проблемного актива наружу фиксирует цену и признание потерь. Внутренняя передача — нет: это «усиление проекта профильной экспертизой». Рынок навеса закрыт для чужих — и открыт для нас.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6752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Не конкуренция с ПФ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Кредитный риск — их, акционерный — наш: разделение по природе риска, не по успеху. Наша докапитализация чинит покрытие их же кредитов — портфель ПФ становится лучше, не меньше.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58768"/>
            <a:ext cx="7863840" cy="4389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58768"/>
            <a:ext cx="54864" cy="43891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58768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РАМКА ЗАХОДА  </a:t>
            </a:r>
            <a:r>
              <a:rPr sz="1150" b="0">
                <a:solidFill>
                  <a:srgbClr val="262626"/>
                </a:solidFill>
                <a:latin typeface="Aptos"/>
              </a:rPr>
              <a:t>Мы не просим никого признать провал. Мы принимаем риск, который банку нельзя держать, — по процедуре, утверждённой сверху, а не по просьбе сбоку.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НАША РОЛЬ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Наше преимущество — взгляд кредитора с обеих сторон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3831336" cy="122529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20 лет на стыке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538728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626"/>
                </a:solidFill>
                <a:latin typeface="Aptos"/>
              </a:rPr>
              <a:t>Мы понимаем и стройку, и кредитный комитет изнутри: язык покрытия, ковенант, залогов — наш родной.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2584" y="1481328"/>
            <a:ext cx="3831336" cy="122529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72584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Экспертиза отбора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901952"/>
            <a:ext cx="3538728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626"/>
                </a:solidFill>
                <a:latin typeface="Aptos"/>
              </a:rPr>
              <a:t>Годы дисциплины «найти, где проект не сойдётся» — это готовый due diligence. Рынок сейчас платит за недоверие.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52928"/>
            <a:ext cx="3831336" cy="122529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529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9809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Доверие обеих сторон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273552"/>
            <a:ext cx="3538728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626"/>
                </a:solidFill>
                <a:latin typeface="Aptos"/>
              </a:rPr>
              <a:t>Для банка мы — свои по родословной; для девелоперов — отраслевые эксперты. Позиция модератора переоценки.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2852928"/>
            <a:ext cx="3831336" cy="122529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72584" y="28529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29809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Честная граница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273552"/>
            <a:ext cx="3538728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626"/>
                </a:solidFill>
                <a:latin typeface="Aptos"/>
              </a:rPr>
              <a:t>Не всякая площадка должна быть проектом. Отличать «переоценённую, но нужную» от «ненужной ни за сколько» — наша дисциплина.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808080"/>
                </a:solidFill>
                <a:latin typeface="Aptos SemiBold"/>
              </a:rPr>
              <a:t>ПРЕДЛАГАЕМЫЕ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7315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ptos Display"/>
              </a:rPr>
              <a:t>С чего начать — без риска и без бюджета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19072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62626"/>
                </a:solidFill>
                <a:latin typeface="Aptos"/>
              </a:rPr>
              <a:t>Представительство на отраслевых площадках: озвучить повестку конструкций от имени 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37360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F3A5F"/>
                </a:solidFill>
                <a:latin typeface="Aptos"/>
              </a:rPr>
              <a:t>сентябрь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04288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8600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62626"/>
                </a:solidFill>
                <a:latin typeface="Aptos"/>
              </a:rPr>
              <a:t>Пилотная экспертиза 2–3 площадок из навеса: отбор и оценка глазами кредитора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304288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F3A5F"/>
                </a:solidFill>
                <a:latin typeface="Aptos"/>
              </a:rPr>
              <a:t>октябрь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71215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71215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52927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62626"/>
                </a:solidFill>
                <a:latin typeface="Aptos"/>
              </a:rPr>
              <a:t>Диалог с блоком проектного финансирования: конструкции как общий инструмент, не конкуренция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871215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F3A5F"/>
                </a:solidFill>
                <a:latin typeface="Aptos"/>
              </a:rPr>
              <a:t>октябрь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38144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381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19856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62626"/>
                </a:solidFill>
                <a:latin typeface="Aptos"/>
              </a:rPr>
              <a:t>Типовая конструкция для кредитного комитета: пакет документов одной сделки-образца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438144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F3A5F"/>
                </a:solidFill>
                <a:latin typeface="Aptos"/>
              </a:rPr>
              <a:t>к декабрю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24528"/>
            <a:ext cx="786384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ptos"/>
              </a:rPr>
              <a:t>Ни один шаг не требует аппетита к риску: говорить, отбирать и считать — не инвестировать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