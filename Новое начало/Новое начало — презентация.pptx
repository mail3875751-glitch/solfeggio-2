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864"/>
        <p:guide orient="horz" pos="2707"/>
        <p:guide orient="horz" pos="2794"/>
        <p:guide orient="horz" pos="2938"/>
        <p:guide pos="403"/>
        <p:guide pos="53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808080"/>
                </a:solidFill>
                <a:latin typeface="Aptos SemiBold"/>
              </a:rPr>
              <a:t>ЛИЧНАЯ СТРАТЕГИЯ · АВГУСТ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73152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Aptos Display"/>
              </a:rPr>
              <a:t>Новое начало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95728"/>
            <a:ext cx="6949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262626"/>
                </a:solidFill>
                <a:latin typeface="Aptos"/>
              </a:rPr>
              <a:t>Диагноз ситуации, фаза рынка, траектории и план строительства собственного имени — на оставшемся runway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20116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0976" y="3429000"/>
            <a:ext cx="20116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61872" y="3429000"/>
            <a:ext cx="201168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72768" y="3429000"/>
            <a:ext cx="201168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83664" y="3429000"/>
            <a:ext cx="201168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70832"/>
            <a:ext cx="786384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Aptos"/>
              </a:rPr>
              <a:t>Рабочая версия 1.0 · для личного пользования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РЕЗЮМЕ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Три вывода, на которых стоит всё остальное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2487168" cy="14813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0934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627632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Эндаумент, не бизнес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38528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Структура живёт на проценты с запаса. Равновесие устраивает того, у кого право хода. Таймер — уход руководителя.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8416" y="1481328"/>
            <a:ext cx="2487168" cy="14813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8416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0934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1627632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Рынок платит за профиль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38528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В 2026–2027 максимальный спрос — на взгляд кредитора: реструктуризации, структурирование, вход в землю.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2" y="1481328"/>
            <a:ext cx="2487168" cy="14813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16752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160934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1627632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«4+2» со страховкой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1938528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Остаться и строить имя — работает только с датами, метриками и растяжкой-детектором.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00400"/>
            <a:ext cx="3749039" cy="96926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00400"/>
            <a:ext cx="3749039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346704"/>
            <a:ext cx="3419856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3A5F"/>
                </a:solidFill>
                <a:latin typeface="Aptos Display"/>
              </a:rPr>
              <a:t>2026–2027</a:t>
            </a:r>
            <a:r>
              <a:rPr sz="1500" b="1">
                <a:solidFill>
                  <a:srgbClr val="1F3A5F"/>
                </a:solidFill>
                <a:latin typeface="Aptos"/>
              </a:rPr>
              <a:t>  гг.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955883"/>
            <a:ext cx="3419856" cy="140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08080"/>
                </a:solidFill>
                <a:latin typeface="Aptos"/>
              </a:rPr>
              <a:t>Окно максимального спроса на профиль. Точка входа — сейчас.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200400"/>
            <a:ext cx="3749039" cy="96926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3200400"/>
            <a:ext cx="3749039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9472" y="3346704"/>
            <a:ext cx="3419856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3A5F"/>
                </a:solidFill>
                <a:latin typeface="Aptos Display"/>
              </a:rPr>
              <a:t>6–24</a:t>
            </a:r>
            <a:r>
              <a:rPr sz="1500" b="1">
                <a:solidFill>
                  <a:srgbClr val="1F3A5F"/>
                </a:solidFill>
                <a:latin typeface="Aptos"/>
              </a:rPr>
              <a:t>  мес.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3955883"/>
            <a:ext cx="3419856" cy="140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08080"/>
                </a:solidFill>
                <a:latin typeface="Aptos"/>
              </a:rPr>
              <a:t>Строительство видимости до монетизации — во всех траекториях.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514600"/>
            <a:ext cx="731520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Диагноз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1BAC7"/>
                </a:solidFill>
                <a:latin typeface="Aptos"/>
              </a:rPr>
              <a:t>Структура, равновесие, личная петля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ДИАГНОЗ · СТРУКТУРА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Не пат, а чужое устойчивое равновесие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Эндаумент с персоналом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Активная фаза — 2006–2014. Проекты распроданы; запас на депозите кормит команду. Продукт структуры — комфорт её сотрудников.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8416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8416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Почему банк терпит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Терпимость бесплатна: самофинансирование, прикрытие отношениями руководителя, статус «опции». Фундамента нет — только отсутствие повода спросить.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16752" y="1481328"/>
            <a:ext cx="2487168" cy="22128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16752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Право хода — не моё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901952"/>
            <a:ext cx="2194560" cy="1682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Каждый элемент «пата» обслуживает стратегию руководителя «аккуратно досидеть». Анализ стал генератором оправданий нерешения.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58768"/>
            <a:ext cx="7863840" cy="4389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58768"/>
            <a:ext cx="54864" cy="43891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58768"/>
            <a:ext cx="74980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КЛЮЧЕВОЙ ВЫВОД  </a:t>
            </a:r>
            <a:r>
              <a:rPr sz="1150" b="0">
                <a:solidFill>
                  <a:srgbClr val="262626"/>
                </a:solidFill>
                <a:latin typeface="Aptos"/>
              </a:rPr>
              <a:t>Единственный вопрос в моей зоне контроля: что я строю на оставшемся runway.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ДИАГНОЗ · ЛИЧНЫЙ КОНТУР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Одна петля избегания — на трёх масштабах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7863840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3794760"/>
                <a:gridCol w="301752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Масштаб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Цикл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Механизм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Неделя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настроился → не сделал → снова понедельник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задуманное не нужно никому внутри системы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8 лет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ужаснулся (2018) → «не думать» → тот же ужас (2026)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страх оказался точным прогнозом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20 лет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план → расхождение → неудобно перед собой → не смотреть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судья — я двадцатилетней давности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3611880"/>
            <a:ext cx="786384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611880"/>
            <a:ext cx="54864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СУТЬ  </a:t>
            </a:r>
            <a:r>
              <a:rPr sz="1150" b="0">
                <a:solidFill>
                  <a:srgbClr val="262626"/>
                </a:solidFill>
                <a:latin typeface="Aptos"/>
              </a:rPr>
              <a:t>Катастрофа оказалась не событием, а отсутствием событий: потеря видна только в сумме, сигнализация не срабатывает на медленную утечку.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ДИАГНОЗ · ЛИЧНЫЙ КОНТУР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Бездействие охраняет старый план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3831336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0934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Механизм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3538728" cy="1572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Пока задуманное не сделано, старый план формально жив. Сделанное даст ответ реальности — а он может оказаться неудобным: по-старому не заработает никогда. «Волшебная таблетка» — та же мечта о действии без действующего.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72584" y="1481328"/>
            <a:ext cx="3831336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72584" y="1481328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160934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Две ответственности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1901952"/>
            <a:ext cx="3538728" cy="1572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Перед близкими — несу, и она служит алиби. Перед своей жизнью — оставлена ~10 лет назад. Вопрос «чего на самом деле ждут близкие — денег любой ценой или живого меня» — не задан.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39"/>
            <a:ext cx="786384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54864" cy="548640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49039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C77B30"/>
                </a:solidFill>
                <a:latin typeface="Aptos"/>
              </a:rPr>
              <a:t>РИСК  </a:t>
            </a:r>
            <a:r>
              <a:rPr sz="1150" b="0">
                <a:solidFill>
                  <a:srgbClr val="262626"/>
                </a:solidFill>
                <a:latin typeface="Aptos"/>
              </a:rPr>
              <a:t>Не превращать диагноз в самобичевание: вина — топливо петли. Подтверждённый прогноз — знание, а не грех.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ДИАГНОЗ · КОМПЕТЕНЦИИ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В покое компетенции амортизируются быстрее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3831336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0934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Переворот 1: навык-порок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3538728" cy="1572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«Куча аргументов против входа» — болезнь структуры, но высококлассный личный навык: due diligence глазами банка. Рынок 2026 платит именно за недоверие к проектам.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72584" y="1481328"/>
            <a:ext cx="3831336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72584" y="1481328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160934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Переворот 2: жалко терять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1901952"/>
            <a:ext cx="3538728" cy="1572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Компетенция девелопера умирает не от смены отрасли, а от отсутствия проектов. Сидеть в бездействующей структуре — режим самой быстрой потери. «Жалко терять» — аргумент за движение.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39"/>
            <a:ext cx="786384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54864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49039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ТРИ НОСИТЕЛЯ ЦЕННОСТИ  </a:t>
            </a:r>
            <a:r>
              <a:rPr sz="1150" b="0">
                <a:solidFill>
                  <a:srgbClr val="262626"/>
                </a:solidFill>
                <a:latin typeface="Aptos"/>
              </a:rPr>
              <a:t>Свежесть практики — затухает; имя — конвертировано в бренд руководителя; соответствие рынку — проверяемо. Лечится только движением.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514600"/>
            <a:ext cx="731520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Рынок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1BAC7"/>
                </a:solidFill>
                <a:latin typeface="Aptos"/>
              </a:rPr>
              <a:t>Фаза цикла, дефицит компетенций, окно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РЫНОК · ФАЗА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Дно пройдено, но экономика проектов ещё ломается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7863840" cy="2167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1828800"/>
                <a:gridCol w="18288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Показатель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Значение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Период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Ключевая ставка ЦБ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21% → 14%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10.2024 → 07.2026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Рыночная ипотека, рост выдач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×3,7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1П 2026 г/г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Покрытие долга ПФ эскроу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88% → ~70%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2024 →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Долг девелоперов по ПФ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+24%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прогноз 2026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Объекты с переносом сроков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58%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Сделки M&amp;A (вынужденные)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~60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2025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3730752"/>
            <a:ext cx="786384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730752"/>
            <a:ext cx="54864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30752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ОКНО ПЕРЕРАСПРЕДЕЛЕНИЯ  </a:t>
            </a:r>
            <a:r>
              <a:rPr sz="1150" b="0">
                <a:solidFill>
                  <a:srgbClr val="262626"/>
                </a:solidFill>
                <a:latin typeface="Aptos"/>
              </a:rPr>
              <a:t>Кассовый разрыв «продажи вернулись — экономика не починилась» = 12–24 мес. Слабые распродают проекты сильным.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Aptos"/>
              </a:rPr>
              <a:t>Источники: ЦБ РФ, ДОМ.РФ, ЕРЗ.РФ, Коммерсантъ, МСФО девелоперов, 2025–2026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РЫНОК · СПРОС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Отрасль публично назвала дефицитом мой профиль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08080"/>
                </a:solidFill>
                <a:latin typeface="Aptos"/>
              </a:rPr>
              <a:t>Тема года на форуме «Движение»-2026: «От кредитования к совместному бизнесу»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10512"/>
            <a:ext cx="2487168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10512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385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tos SemiBold"/>
              </a:rPr>
              <a:t>Вход в землю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31136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262626"/>
                </a:solidFill>
                <a:latin typeface="Aptos"/>
              </a:rPr>
              <a:t>КРТ, СП, опционы, взнос землёй — без живых денег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8416" y="1810512"/>
            <a:ext cx="2487168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8416" y="1810512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9385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tos SemiBold"/>
              </a:rPr>
              <a:t>Банковская финмодель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31136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262626"/>
                </a:solidFill>
                <a:latin typeface="Aptos"/>
              </a:rPr>
              <a:t>покрытие, LLCR, чувствительность — не «бизнес-план»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810512"/>
            <a:ext cx="2487168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16752" y="1810512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9385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tos SemiBold"/>
              </a:rPr>
              <a:t>Реструктуризации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2231136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262626"/>
                </a:solidFill>
                <a:latin typeface="Aptos"/>
              </a:rPr>
              <a:t>пролонгации, ре-профилирование, waiver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889504"/>
            <a:ext cx="2487168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889504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017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tos SemiBold"/>
              </a:rPr>
              <a:t>Мультибанковость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310128"/>
            <a:ext cx="219456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262626"/>
                </a:solidFill>
                <a:latin typeface="Aptos"/>
              </a:rPr>
              <a:t>организация конкуренции кредиторов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28416" y="2889504"/>
            <a:ext cx="2487168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8416" y="2889504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017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Aptos SemiBold"/>
              </a:rPr>
              <a:t>Новые инструменты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310128"/>
            <a:ext cx="219456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262626"/>
                </a:solidFill>
                <a:latin typeface="Aptos"/>
              </a:rPr>
              <a:t>ЗПИФ как equity, мезонин, fee-девелопмент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968496"/>
            <a:ext cx="7863840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968496"/>
            <a:ext cx="5486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968496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ВЫВОД  </a:t>
            </a:r>
            <a:r>
              <a:rPr sz="1150" b="0">
                <a:solidFill>
                  <a:srgbClr val="262626"/>
                </a:solidFill>
                <a:latin typeface="Aptos"/>
              </a:rPr>
              <a:t>Список читается как описание 20 лет моей работы глазами кредитного комитета.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РЫНОК · ТАЙМИНГ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Три таймера показывают одну точку входа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2487168" cy="1828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Санаторий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219456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Уход руководителя: разбор структуры, рынок труда в 55+ без имени. Оценочно 2–5 лет.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8416" y="1481328"/>
            <a:ext cx="2487168" cy="1828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8416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Кадровый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01952"/>
            <a:ext cx="219456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Имя до монетизации строится 6–24 месяца, и все каналы — через нетворк.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16752" y="1481328"/>
            <a:ext cx="2487168" cy="1828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16752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609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Рыночный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901952"/>
            <a:ext cx="219456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Пик спроса на взгляд кредитора — 2026–2027. К 2028 маржа снова прикроет неумение структурировать.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93008"/>
            <a:ext cx="786384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93008"/>
            <a:ext cx="7863840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639312"/>
            <a:ext cx="7534656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Сейчас</a:t>
            </a:r>
            <a:r>
              <a:rPr sz="1500" b="1">
                <a:solidFill>
                  <a:srgbClr val="1F3A5F"/>
                </a:solidFill>
                <a:latin typeface="Aptos"/>
              </a:rPr>
              <a:t>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122367"/>
            <a:ext cx="7534656" cy="83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08080"/>
                </a:solidFill>
                <a:latin typeface="Aptos"/>
              </a:rPr>
              <a:t>Каждый месяц промедления сдвигает монетизацию за горизонт закрытия окна.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514600"/>
            <a:ext cx="731520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Стратегия и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1BAC7"/>
                </a:solidFill>
                <a:latin typeface="Aptos"/>
              </a:rPr>
              <a:t>Траектории, «4+2», заявка, контрольные точки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СТРАТЕГИЯ · ТРАЕКТОРИИ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Профиль покупается через людей, не по объявлению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7863840" cy="2167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/>
                <a:gridCol w="2286000"/>
                <a:gridCol w="21945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Траектория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Доход (Москва)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Канал и барьер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CFO / директор по финансированию у девелопера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300–600 тыс. + бонус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executive search, рекомендации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Банк: ПФ и проблемные активы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150–350 тыс.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родословная, прямые контакты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Интерим на проблемном проекте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мандаты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сеть кредитных комитетов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CFO крупного девелопера (M&amp;A)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20–40 млн руб./год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нужны 2–3 года видимости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Портфель независимого директора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1,5–4 млн руб./год за мандат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АНД, клуб, преподавание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Debt advisory (success fee)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десятки млн за сделку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Aptos"/>
                        </a:rPr>
                        <a:t>6–18 мес. нулевого дохода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3730752"/>
            <a:ext cx="786384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730752"/>
            <a:ext cx="54864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30752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СКВОЗНОЙ ВЫВОД  </a:t>
            </a:r>
            <a:r>
              <a:rPr sz="1150" b="0">
                <a:solidFill>
                  <a:srgbClr val="262626"/>
                </a:solidFill>
                <a:latin typeface="Aptos"/>
              </a:rPr>
              <a:t>Зарплата санатория = финансирование неоплачиваемой фазы. Runway перестаёт быть анестезией, когда на него покупается конкретное.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Aptos"/>
              </a:rPr>
              <a:t>Источники: hh.ru, Kontakt InterSearch, НОКС, отраслевые обзоры, авг.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СТРАТЕГИЯ · «4+2»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«4+2» работает только с датами и метриками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3831336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0934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Суть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3538728" cy="1572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Оставаться, пока санаторий позволяет (4), и строить имя в банковском контуре и девелоперском сообществе (2). Оплачиваемый runway финансирует строительство выхода.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72584" y="1481328"/>
            <a:ext cx="3831336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72584" y="1481328"/>
            <a:ext cx="3831336" cy="50292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1609344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Главный риск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1901952"/>
            <a:ext cx="3538728" cy="1572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Единственный вариант, не требующий ничего сегодня. В среде, где 8 лет не выживало ни одно намерение, «4+2» по умолчанию схлопывается в чистую «4».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39"/>
            <a:ext cx="786384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54864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49039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МАНЁВР  </a:t>
            </a:r>
            <a:r>
              <a:rPr sz="1150" b="0">
                <a:solidFill>
                  <a:srgbClr val="262626"/>
                </a:solidFill>
                <a:latin typeface="Aptos"/>
              </a:rPr>
              <a:t>Продать руководителю мою видимость как наполнение его экспертного фасада: ему — легенда без риска, мне — канал в сеть.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СТРАТЕГИЯ · ЗАЯВКА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Имя строится на заявке: «тот, кто ___»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2487168" cy="2011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0934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627632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Проводник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38528"/>
            <a:ext cx="2194560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Проводит девелоперский проект через банковский контур: структурирование, ПФ, реструктуризация.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8416" y="1481328"/>
            <a:ext cx="2487168" cy="2011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8416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0934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1627632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Оценщик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38528"/>
            <a:ext cx="2194560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Оценивает проекты глазами банка: due diligence, стресс-тест экономики проекта.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2" y="1481328"/>
            <a:ext cx="2487168" cy="2011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16752" y="1481328"/>
            <a:ext cx="2487168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160934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1627632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Aptos SemiBold"/>
              </a:rPr>
              <a:t>Архитектор партнёрств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1938528"/>
            <a:ext cx="2194560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ptos"/>
              </a:rPr>
              <a:t>Собирает связки банк × девелопер: СП, fee-девелопмент, мезонин, поэтапный вход.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75887"/>
            <a:ext cx="786384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675887"/>
            <a:ext cx="54864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675887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3A5F"/>
                </a:solidFill>
                <a:latin typeface="Aptos"/>
              </a:rPr>
              <a:t>ИНСТРУМЕНТ  </a:t>
            </a:r>
            <a:r>
              <a:rPr sz="1150" b="0">
                <a:solidFill>
                  <a:srgbClr val="262626"/>
                </a:solidFill>
                <a:latin typeface="Aptos"/>
              </a:rPr>
              <a:t>«Конструкция-визитка» — не таблетка, а материал для кулуарных разговоров: каждый показ работает на имя автора.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300">
                <a:solidFill>
                  <a:srgbClr val="808080"/>
                </a:solidFill>
                <a:latin typeface="Aptos SemiBold"/>
              </a:rPr>
              <a:t>ПЛАН · КОНТРОЛЬ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ptos Display"/>
              </a:rPr>
              <a:t>Метрики видимости и растяжка-детектор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7863840" cy="18608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0640"/>
                <a:gridCol w="1371600"/>
                <a:gridCol w="13716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Метрика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6 мес.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12 мес.</a:t>
                      </a:r>
                    </a:p>
                  </a:txBody>
                  <a:tcPr marL="64008" marR="64008" marT="27432" marB="27432" anchor="ctr">
                    <a:solidFill>
                      <a:srgbClr val="2C3E50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Выступления / публикации / панели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2–3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6+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Отношения, проверенные просьбой или помощью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Контакты в контуре проектного финансирования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Показы «Конструкции-визитки»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64008" marR="64008" marT="27432" marB="27432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Входящие обращения за экспертизой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1–2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262626"/>
                          </a:solidFill>
                          <a:latin typeface="Aptos"/>
                        </a:rPr>
                        <a:t>5+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3657600"/>
            <a:ext cx="7863840" cy="60350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" cy="603504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74980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C77B30"/>
                </a:solidFill>
                <a:latin typeface="Aptos"/>
              </a:rPr>
              <a:t>РАСТЯЖКА-ДЕТЕКТОР  </a:t>
            </a:r>
            <a:r>
              <a:rPr sz="1150" b="0">
                <a:solidFill>
                  <a:srgbClr val="262626"/>
                </a:solidFill>
                <a:latin typeface="Aptos"/>
              </a:rPr>
              <a:t>Нет к 01.03.2027 разговора с руководителем, 3 замеров, 5 показов и одного публичного появления — включается вариант 3 как есть.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808080"/>
                </a:solidFill>
                <a:latin typeface="Aptos SemiBold"/>
              </a:rPr>
              <a:t>БЛИЖАЙШИЙ МЕСЯЦ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73152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ptos Display"/>
              </a:rPr>
              <a:t>Следующие шаги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291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6035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Aptos"/>
              </a:rPr>
              <a:t>Четыре списка инвентаризации и выбор заявки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9164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F3A5F"/>
                </a:solidFill>
                <a:latin typeface="Aptos"/>
              </a:rPr>
              <a:t>до 22.08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67128"/>
            <a:ext cx="3291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6712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67128"/>
            <a:ext cx="6035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Aptos"/>
              </a:rPr>
              <a:t>«Конструкция-визитка» v0.2 — к первому мероприятию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6712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F3A5F"/>
                </a:solidFill>
                <a:latin typeface="Aptos"/>
              </a:rPr>
              <a:t>до 29.08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642616"/>
            <a:ext cx="3291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4261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642616"/>
            <a:ext cx="6035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Aptos"/>
              </a:rPr>
              <a:t>Два кулуарных мероприятия, по 3 предметных разговора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642616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F3A5F"/>
                </a:solidFill>
                <a:latin typeface="Aptos"/>
              </a:rPr>
              <a:t>до 08.09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18104"/>
            <a:ext cx="3291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1810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118104"/>
            <a:ext cx="6035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Aptos"/>
              </a:rPr>
              <a:t>Замер рынка: 3–4 разговора о цене профиля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11810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F3A5F"/>
                </a:solidFill>
                <a:latin typeface="Aptos"/>
              </a:rPr>
              <a:t>до 30.09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93592"/>
            <a:ext cx="3291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9359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593592"/>
            <a:ext cx="6035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Aptos"/>
              </a:rPr>
              <a:t>Разговор с руководителем о роли лица фасада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59359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>
                <a:solidFill>
                  <a:srgbClr val="1F3A5F"/>
                </a:solidFill>
                <a:latin typeface="Aptos"/>
              </a:rPr>
              <a:t>до 30.09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24528"/>
            <a:ext cx="786384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7083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Aptos"/>
              </a:rPr>
              <a:t>Первый тест стратегии: если разговор с руководителем откладывается — комбинация уже схлопнулась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